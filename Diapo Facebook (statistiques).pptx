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63" r:id="rId4"/>
    <p:sldId id="272" r:id="rId5"/>
    <p:sldId id="270" r:id="rId6"/>
    <p:sldId id="273" r:id="rId7"/>
    <p:sldId id="269" r:id="rId8"/>
    <p:sldId id="261" r:id="rId9"/>
    <p:sldId id="262" r:id="rId10"/>
    <p:sldId id="278" r:id="rId11"/>
    <p:sldId id="279" r:id="rId12"/>
    <p:sldId id="277" r:id="rId13"/>
    <p:sldId id="281" r:id="rId14"/>
    <p:sldId id="258" r:id="rId15"/>
    <p:sldId id="264" r:id="rId16"/>
    <p:sldId id="282" r:id="rId17"/>
    <p:sldId id="260" r:id="rId18"/>
    <p:sldId id="268" r:id="rId19"/>
    <p:sldId id="271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262"/>
    <a:srgbClr val="3B579D"/>
    <a:srgbClr val="ADD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8"/>
    <p:restoredTop sz="94640"/>
  </p:normalViewPr>
  <p:slideViewPr>
    <p:cSldViewPr snapToGrid="0">
      <p:cViewPr varScale="1">
        <p:scale>
          <a:sx n="102" d="100"/>
          <a:sy n="102" d="100"/>
        </p:scale>
        <p:origin x="12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2C9DD-4DDC-6B4D-BAA8-E640CC148713}" type="datetimeFigureOut">
              <a:rPr lang="fr-FR" smtClean="0"/>
              <a:t>06/03/2024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BC48B-9F8F-2B48-B779-20D2612C9A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7008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BC48B-9F8F-2B48-B779-20D2612C9AE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036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A8B701-DC3B-8912-3DC6-05C372BC2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D059A2-697E-620D-94EE-0B2DD88C3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418E9C-231D-94D2-4389-2226486F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C90F-5AB2-1640-BA9D-C2FBD06A733F}" type="datetime1">
              <a:rPr lang="fr-FR" smtClean="0"/>
              <a:t>06/03/2024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D47067-EEFF-6E26-3D2B-F2FD1BFCF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28A152-B7E0-21FC-84B6-1A98D493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87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A2974-7820-1406-FD15-1604DAFB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2846D6-AAD3-658F-CF08-5F464E593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CDE09B-50E8-F3EF-1C34-656C0C7D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384E-E2E8-E74A-8DC5-17517C48231E}" type="datetime1">
              <a:rPr lang="fr-FR" smtClean="0"/>
              <a:t>06/03/2024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92382B-9D7E-2C68-E8FC-76C38244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4ED6E4-A4A5-84C9-121B-E6732A87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28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3A0FB-E394-49AC-A6E0-7EDBF333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0DA244-F5CC-04A2-1BBA-2DB3B6BBE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E5A098-50A1-DEA5-5BEF-CE7B4E26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8E75-6CD0-0147-B408-952C3F975F7D}" type="datetime1">
              <a:rPr lang="fr-FR" smtClean="0"/>
              <a:t>06/03/2024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CA8B3-29F5-9ED8-B011-0C7C6424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AF360F-8D86-3BE0-832A-256F6703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18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DECB0-904D-3DF4-FF26-48098E2F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C912DC-7EC8-E5B4-1268-140236DB4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589755-F052-BF7E-4160-44707B6A2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251FDC-23A3-AB3C-A9CA-9090C346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5B79-0DA9-374E-B71D-1C4E5CBE05E5}" type="datetime1">
              <a:rPr lang="fr-FR" smtClean="0"/>
              <a:t>06/03/2024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A8E5AF-6C57-1338-847B-02B64F3C0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B4BEBB-C39C-1903-3BCF-CC43D296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3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5A0C7-D4CF-AD98-1913-B798E4F5F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331483-49E0-3FE5-FFB9-FC6BE51AC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BD0D38-54E9-8B8F-F5FA-04C1A15C2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FF5D8D6-85B2-F981-8159-2F5F7A67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DC3FDCE-3279-A9CF-8C81-BB5DEED5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B36018-5F6D-3918-2E20-623EE1BA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A78-491B-7142-AF94-48B1F4D90A33}" type="datetime1">
              <a:rPr lang="fr-FR" smtClean="0"/>
              <a:t>06/03/2024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BAC29D3-2AC7-6A2C-DB31-C61C5953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985BB94-77BC-A20A-70E0-A8C001A4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591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A19312-F70B-657C-A3DF-AB8E3B92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D2AE28-E676-2EA4-E505-4C95BB28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D3B86-CB1D-7F40-8D28-B8A6DE64C473}" type="datetime1">
              <a:rPr lang="fr-FR" smtClean="0"/>
              <a:t>06/03/2024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6DE469-E50E-8A90-E0DE-7A85E5CF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2CF0E3-4965-EE5E-1D45-B81340C8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774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9FE7A50-2516-46B9-C3D9-44BCA935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1C55C-3B4B-9849-AE23-B6DA8444FF10}" type="datetime1">
              <a:rPr lang="fr-FR" smtClean="0"/>
              <a:t>06/03/2024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B54AAA-2974-40C5-5954-FAF098DCB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AFACEF-B953-67EF-037F-E43C075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339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CCDA0B-1C7E-1E2D-18C7-6F1B815B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820535-FF17-267C-BA9A-761BABFA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ABA337-5F69-808B-D4C6-3A57AF20B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385AD4-676C-42B4-6135-67D1A021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E2AB-10C5-0740-BA7C-018940123B38}" type="datetime1">
              <a:rPr lang="fr-FR" smtClean="0"/>
              <a:t>06/03/2024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5F629C-4124-0282-F235-8FA6BBF1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84C488-6D68-326A-5012-3AF7C524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30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A7D23-3D30-64B9-74FC-304E1B48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3167E2-525B-B7AF-6CF6-3FF9910CF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708A6F-6E02-C97F-B096-54E6DB464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7520CD-6D15-3226-44D8-07B91FF9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AB35B-A328-4B4E-8AE2-A8F9EA0FFB3C}" type="datetime1">
              <a:rPr lang="fr-FR" smtClean="0"/>
              <a:t>06/03/2024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8816C7-A8DA-7F31-395A-BAEEEB443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5310D7-0878-E14B-A8B5-84F53E66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05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1E8A95-1FB8-99F5-C509-31069A7A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545936-DB4D-B12C-A9E5-35A423FA6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28446F-67C1-30C3-E562-89B413CC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7DAA2-5CFB-F341-B192-07ECC198C1C9}" type="datetime1">
              <a:rPr lang="fr-FR" smtClean="0"/>
              <a:t>06/03/2024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B019A5-10B2-80D1-D2F8-C5D97F0D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B0CF54-550C-7CCC-17E0-919C15AB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95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25F755-F549-D82A-4D6D-73C3CF29DA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B650C8-CB1E-6C00-DC50-119CE7C57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FD0AAA-1A09-8358-F8FD-2E6E76F0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AD7B7-5B27-B848-A85D-A9C5EB5702B7}" type="datetime1">
              <a:rPr lang="fr-FR" smtClean="0"/>
              <a:t>06/03/2024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0F8B63-2114-2EDF-EC0F-1566FADE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91E464-E85C-1884-A2CA-EF815B35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46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A041E0-C51D-4716-9908-9D5C8ED76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C0CFE6-AF99-F58F-7EC6-E8A4AB727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4E4270-42E9-9DA8-57D8-55E5C75D7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794EB-2B58-ED4B-A83A-36DB9ED69550}" type="datetime1">
              <a:rPr lang="fr-FR" smtClean="0"/>
              <a:t>06/03/2024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3F2A00-0468-D86A-601A-931A5EDA7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A77C32-8117-EEC9-FCF0-26521DBB5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65A16-1EE7-D449-A5C6-16E02F6016E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805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6.sv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12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0.png"/><Relationship Id="rId5" Type="http://schemas.openxmlformats.org/officeDocument/2006/relationships/image" Target="../media/image11.svg"/><Relationship Id="rId10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23.jpe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26.emf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27.emf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31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sv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>
            <a:extLst>
              <a:ext uri="{FF2B5EF4-FFF2-40B4-BE49-F238E27FC236}">
                <a16:creationId xmlns:a16="http://schemas.microsoft.com/office/drawing/2014/main" id="{2D0B182D-D753-75A0-4005-E875CC743EFA}"/>
              </a:ext>
            </a:extLst>
          </p:cNvPr>
          <p:cNvGrpSpPr/>
          <p:nvPr/>
        </p:nvGrpSpPr>
        <p:grpSpPr>
          <a:xfrm>
            <a:off x="982231" y="1711980"/>
            <a:ext cx="4928937" cy="3066334"/>
            <a:chOff x="982231" y="1711980"/>
            <a:chExt cx="4928937" cy="3066334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F3743B89-178B-BE8F-995B-FC21A25571FE}"/>
                </a:ext>
              </a:extLst>
            </p:cNvPr>
            <p:cNvGrpSpPr/>
            <p:nvPr/>
          </p:nvGrpSpPr>
          <p:grpSpPr>
            <a:xfrm>
              <a:off x="993000" y="1711980"/>
              <a:ext cx="3909200" cy="1046440"/>
              <a:chOff x="1870094" y="1971676"/>
              <a:chExt cx="3909200" cy="1046440"/>
            </a:xfrm>
          </p:grpSpPr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A1F15DCA-288E-0F7E-5B18-2217E8EE441E}"/>
                  </a:ext>
                </a:extLst>
              </p:cNvPr>
              <p:cNvSpPr txBox="1"/>
              <p:nvPr/>
            </p:nvSpPr>
            <p:spPr>
              <a:xfrm>
                <a:off x="1870094" y="1971676"/>
                <a:ext cx="25003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4000" b="1" dirty="0">
                    <a:solidFill>
                      <a:schemeClr val="accent1">
                        <a:lumMod val="75000"/>
                      </a:schemeClr>
                    </a:solidFill>
                  </a:rPr>
                  <a:t>facebook</a:t>
                </a:r>
              </a:p>
            </p:txBody>
          </p:sp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4834F72-2E31-A876-7107-910C531D022A}"/>
                  </a:ext>
                </a:extLst>
              </p:cNvPr>
              <p:cNvSpPr txBox="1"/>
              <p:nvPr/>
            </p:nvSpPr>
            <p:spPr>
              <a:xfrm>
                <a:off x="1900238" y="2479507"/>
                <a:ext cx="17716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dirty="0"/>
                  <a:t>Identifiant </a:t>
                </a:r>
              </a:p>
            </p:txBody>
          </p:sp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FEF99B0D-0DCE-0981-498E-87A60C8D334C}"/>
                  </a:ext>
                </a:extLst>
              </p:cNvPr>
              <p:cNvSpPr txBox="1"/>
              <p:nvPr/>
            </p:nvSpPr>
            <p:spPr>
              <a:xfrm>
                <a:off x="1900238" y="2741117"/>
                <a:ext cx="38790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/>
                  <a:t>Cliquez sur votre image</a:t>
                </a: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0A045B9C-0AF5-AF7D-6103-702AF302A389}"/>
                </a:ext>
              </a:extLst>
            </p:cNvPr>
            <p:cNvGrpSpPr/>
            <p:nvPr/>
          </p:nvGrpSpPr>
          <p:grpSpPr>
            <a:xfrm>
              <a:off x="2242961" y="3104904"/>
              <a:ext cx="1103666" cy="1665769"/>
              <a:chOff x="2232646" y="3127295"/>
              <a:chExt cx="1103666" cy="1665769"/>
            </a:xfrm>
          </p:grpSpPr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10512696-2639-03D9-9A25-C45D23F43BF9}"/>
                  </a:ext>
                </a:extLst>
              </p:cNvPr>
              <p:cNvSpPr/>
              <p:nvPr/>
            </p:nvSpPr>
            <p:spPr>
              <a:xfrm>
                <a:off x="2243156" y="3127752"/>
                <a:ext cx="1092897" cy="166531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65255" dist="50800" dir="2212959" sx="100071" sy="100071" algn="ctr" rotWithShape="0">
                  <a:srgbClr val="000000">
                    <a:alpha val="71919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38B62F52-1E39-8B82-186A-BD9B57072180}"/>
                  </a:ext>
                </a:extLst>
              </p:cNvPr>
              <p:cNvSpPr/>
              <p:nvPr/>
            </p:nvSpPr>
            <p:spPr>
              <a:xfrm>
                <a:off x="2232646" y="3127295"/>
                <a:ext cx="1103666" cy="106828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D88474C-AF57-4080-F501-86AEB871BED5}"/>
                  </a:ext>
                </a:extLst>
              </p:cNvPr>
              <p:cNvSpPr txBox="1"/>
              <p:nvPr/>
            </p:nvSpPr>
            <p:spPr>
              <a:xfrm>
                <a:off x="2357524" y="4253527"/>
                <a:ext cx="8641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Axel</a:t>
                </a:r>
              </a:p>
              <a:p>
                <a:pPr algn="ctr"/>
                <a:r>
                  <a:rPr lang="fr-FR" sz="1400" dirty="0"/>
                  <a:t>Sottile</a:t>
                </a:r>
              </a:p>
            </p:txBody>
          </p:sp>
        </p:grp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08FD1BE3-0B16-E7A5-A25D-8A726E8E8525}"/>
                </a:ext>
              </a:extLst>
            </p:cNvPr>
            <p:cNvGrpSpPr/>
            <p:nvPr/>
          </p:nvGrpSpPr>
          <p:grpSpPr>
            <a:xfrm>
              <a:off x="982231" y="3100709"/>
              <a:ext cx="1104707" cy="1676038"/>
              <a:chOff x="982231" y="3100709"/>
              <a:chExt cx="1104707" cy="1676038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D33E6BDA-4E79-BFEB-D166-99291540487D}"/>
                  </a:ext>
                </a:extLst>
              </p:cNvPr>
              <p:cNvGrpSpPr/>
              <p:nvPr/>
            </p:nvGrpSpPr>
            <p:grpSpPr>
              <a:xfrm>
                <a:off x="982231" y="3105133"/>
                <a:ext cx="1103666" cy="1671614"/>
                <a:chOff x="2232387" y="3127752"/>
                <a:chExt cx="1103666" cy="1671614"/>
              </a:xfrm>
            </p:grpSpPr>
            <p:sp>
              <p:nvSpPr>
                <p:cNvPr id="28" name="Rectangle : coins arrondis 27">
                  <a:extLst>
                    <a:ext uri="{FF2B5EF4-FFF2-40B4-BE49-F238E27FC236}">
                      <a16:creationId xmlns:a16="http://schemas.microsoft.com/office/drawing/2014/main" id="{4F887000-C42C-BF39-FF27-F03267A5CEE4}"/>
                    </a:ext>
                  </a:extLst>
                </p:cNvPr>
                <p:cNvSpPr/>
                <p:nvPr/>
              </p:nvSpPr>
              <p:spPr>
                <a:xfrm>
                  <a:off x="2243156" y="3127752"/>
                  <a:ext cx="1092897" cy="166531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65255" dist="50800" dir="2212959" sx="100071" sy="100071" algn="ctr" rotWithShape="0">
                    <a:srgbClr val="000000">
                      <a:alpha val="71919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05D9CE39-4CCC-7CE4-D059-E268AFB12C90}"/>
                    </a:ext>
                  </a:extLst>
                </p:cNvPr>
                <p:cNvSpPr txBox="1"/>
                <p:nvPr/>
              </p:nvSpPr>
              <p:spPr>
                <a:xfrm>
                  <a:off x="2232387" y="4276146"/>
                  <a:ext cx="109289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-1321200" algn="ctr" defTabSz="446400"/>
                  <a:r>
                    <a:rPr lang="fr-FR" sz="1400" dirty="0"/>
                    <a:t>Amandine Ettendorff</a:t>
                  </a:r>
                </a:p>
              </p:txBody>
            </p:sp>
          </p:grpSp>
          <p:sp>
            <p:nvSpPr>
              <p:cNvPr id="32" name="Rectangle : coins arrondis 31">
                <a:extLst>
                  <a:ext uri="{FF2B5EF4-FFF2-40B4-BE49-F238E27FC236}">
                    <a16:creationId xmlns:a16="http://schemas.microsoft.com/office/drawing/2014/main" id="{9AC8C305-01FC-FAE3-A94A-D0D2E5E2839E}"/>
                  </a:ext>
                </a:extLst>
              </p:cNvPr>
              <p:cNvSpPr/>
              <p:nvPr/>
            </p:nvSpPr>
            <p:spPr>
              <a:xfrm>
                <a:off x="983272" y="3100709"/>
                <a:ext cx="1103666" cy="106828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6D8487EA-4933-C8FE-CF56-7BCCE7BF2D1E}"/>
                </a:ext>
              </a:extLst>
            </p:cNvPr>
            <p:cNvGrpSpPr/>
            <p:nvPr/>
          </p:nvGrpSpPr>
          <p:grpSpPr>
            <a:xfrm>
              <a:off x="3524711" y="3102276"/>
              <a:ext cx="1104707" cy="1676038"/>
              <a:chOff x="982231" y="3100709"/>
              <a:chExt cx="1104707" cy="1676038"/>
            </a:xfrm>
          </p:grpSpPr>
          <p:grpSp>
            <p:nvGrpSpPr>
              <p:cNvPr id="40" name="Groupe 39">
                <a:extLst>
                  <a:ext uri="{FF2B5EF4-FFF2-40B4-BE49-F238E27FC236}">
                    <a16:creationId xmlns:a16="http://schemas.microsoft.com/office/drawing/2014/main" id="{6315E423-04F1-BF0A-32C6-2CD25C69CC74}"/>
                  </a:ext>
                </a:extLst>
              </p:cNvPr>
              <p:cNvGrpSpPr/>
              <p:nvPr/>
            </p:nvGrpSpPr>
            <p:grpSpPr>
              <a:xfrm>
                <a:off x="982231" y="3105133"/>
                <a:ext cx="1103666" cy="1671614"/>
                <a:chOff x="2232387" y="3127752"/>
                <a:chExt cx="1103666" cy="1671614"/>
              </a:xfrm>
            </p:grpSpPr>
            <p:sp>
              <p:nvSpPr>
                <p:cNvPr id="42" name="Rectangle : coins arrondis 41">
                  <a:extLst>
                    <a:ext uri="{FF2B5EF4-FFF2-40B4-BE49-F238E27FC236}">
                      <a16:creationId xmlns:a16="http://schemas.microsoft.com/office/drawing/2014/main" id="{B6699EAB-BECF-89A2-2CB4-3C39C4F16665}"/>
                    </a:ext>
                  </a:extLst>
                </p:cNvPr>
                <p:cNvSpPr/>
                <p:nvPr/>
              </p:nvSpPr>
              <p:spPr>
                <a:xfrm>
                  <a:off x="2243156" y="3127752"/>
                  <a:ext cx="1092897" cy="166531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65255" dist="50800" dir="2212959" sx="100071" sy="100071" algn="ctr" rotWithShape="0">
                    <a:srgbClr val="000000">
                      <a:alpha val="71919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8BB0F2F3-F859-AE22-8DEF-D205FF4AE987}"/>
                    </a:ext>
                  </a:extLst>
                </p:cNvPr>
                <p:cNvSpPr txBox="1"/>
                <p:nvPr/>
              </p:nvSpPr>
              <p:spPr>
                <a:xfrm>
                  <a:off x="2232387" y="4276146"/>
                  <a:ext cx="109289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-1321200" algn="ctr" defTabSz="446400"/>
                  <a:r>
                    <a:rPr lang="fr-FR" sz="1400" dirty="0"/>
                    <a:t>Liza  </a:t>
                  </a:r>
                </a:p>
                <a:p>
                  <a:pPr indent="-1321200" algn="ctr" defTabSz="446400"/>
                  <a:r>
                    <a:rPr lang="fr-FR" sz="1400" dirty="0"/>
                    <a:t>Coedic</a:t>
                  </a:r>
                </a:p>
              </p:txBody>
            </p:sp>
          </p:grpSp>
          <p:sp>
            <p:nvSpPr>
              <p:cNvPr id="41" name="Rectangle : coins arrondis 40">
                <a:extLst>
                  <a:ext uri="{FF2B5EF4-FFF2-40B4-BE49-F238E27FC236}">
                    <a16:creationId xmlns:a16="http://schemas.microsoft.com/office/drawing/2014/main" id="{20BBC42D-43BA-FC89-3B8B-DFCC73E57C33}"/>
                  </a:ext>
                </a:extLst>
              </p:cNvPr>
              <p:cNvSpPr/>
              <p:nvPr/>
            </p:nvSpPr>
            <p:spPr>
              <a:xfrm>
                <a:off x="983272" y="3100709"/>
                <a:ext cx="1103666" cy="106828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D19FD845-D446-9E32-2AB0-B068880CEA21}"/>
                </a:ext>
              </a:extLst>
            </p:cNvPr>
            <p:cNvGrpSpPr/>
            <p:nvPr/>
          </p:nvGrpSpPr>
          <p:grpSpPr>
            <a:xfrm>
              <a:off x="4806461" y="3102276"/>
              <a:ext cx="1104707" cy="1676038"/>
              <a:chOff x="982231" y="3100709"/>
              <a:chExt cx="1104707" cy="1676038"/>
            </a:xfrm>
          </p:grpSpPr>
          <p:grpSp>
            <p:nvGrpSpPr>
              <p:cNvPr id="45" name="Groupe 44">
                <a:extLst>
                  <a:ext uri="{FF2B5EF4-FFF2-40B4-BE49-F238E27FC236}">
                    <a16:creationId xmlns:a16="http://schemas.microsoft.com/office/drawing/2014/main" id="{BF490716-ECDB-A2BF-5B0C-58868938C0E5}"/>
                  </a:ext>
                </a:extLst>
              </p:cNvPr>
              <p:cNvGrpSpPr/>
              <p:nvPr/>
            </p:nvGrpSpPr>
            <p:grpSpPr>
              <a:xfrm>
                <a:off x="982231" y="3105133"/>
                <a:ext cx="1103666" cy="1671614"/>
                <a:chOff x="2232387" y="3127752"/>
                <a:chExt cx="1103666" cy="1671614"/>
              </a:xfrm>
            </p:grpSpPr>
            <p:sp>
              <p:nvSpPr>
                <p:cNvPr id="47" name="Rectangle : coins arrondis 46">
                  <a:extLst>
                    <a:ext uri="{FF2B5EF4-FFF2-40B4-BE49-F238E27FC236}">
                      <a16:creationId xmlns:a16="http://schemas.microsoft.com/office/drawing/2014/main" id="{BBE9AA20-70A5-C389-F1BC-822267C93963}"/>
                    </a:ext>
                  </a:extLst>
                </p:cNvPr>
                <p:cNvSpPr/>
                <p:nvPr/>
              </p:nvSpPr>
              <p:spPr>
                <a:xfrm>
                  <a:off x="2243156" y="3127752"/>
                  <a:ext cx="1092897" cy="166531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65255" dist="50800" dir="2212959" sx="100071" sy="100071" algn="ctr" rotWithShape="0">
                    <a:srgbClr val="000000">
                      <a:alpha val="71919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0EAF98FC-42DF-A88D-5627-39EF35F49389}"/>
                    </a:ext>
                  </a:extLst>
                </p:cNvPr>
                <p:cNvSpPr txBox="1"/>
                <p:nvPr/>
              </p:nvSpPr>
              <p:spPr>
                <a:xfrm>
                  <a:off x="2232387" y="4276146"/>
                  <a:ext cx="109289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-1321200" algn="ctr" defTabSz="446400"/>
                  <a:r>
                    <a:rPr lang="fr-FR" sz="1400" dirty="0"/>
                    <a:t>Emma</a:t>
                  </a:r>
                </a:p>
                <a:p>
                  <a:pPr indent="-1321200" algn="ctr" defTabSz="446400"/>
                  <a:r>
                    <a:rPr lang="fr-FR" sz="1400" dirty="0"/>
                    <a:t>Bougeard</a:t>
                  </a:r>
                </a:p>
              </p:txBody>
            </p:sp>
          </p:grpSp>
          <p:sp>
            <p:nvSpPr>
              <p:cNvPr id="46" name="Rectangle : coins arrondis 45">
                <a:extLst>
                  <a:ext uri="{FF2B5EF4-FFF2-40B4-BE49-F238E27FC236}">
                    <a16:creationId xmlns:a16="http://schemas.microsoft.com/office/drawing/2014/main" id="{7C3C871F-C7D5-A2B9-A770-D9B30CB58D03}"/>
                  </a:ext>
                </a:extLst>
              </p:cNvPr>
              <p:cNvSpPr/>
              <p:nvPr/>
            </p:nvSpPr>
            <p:spPr>
              <a:xfrm>
                <a:off x="983272" y="3100709"/>
                <a:ext cx="1103666" cy="106828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grpSp>
        <p:nvGrpSpPr>
          <p:cNvPr id="1027" name="Groupe 1026">
            <a:extLst>
              <a:ext uri="{FF2B5EF4-FFF2-40B4-BE49-F238E27FC236}">
                <a16:creationId xmlns:a16="http://schemas.microsoft.com/office/drawing/2014/main" id="{03E9305A-F748-33C4-A96A-1438B0F987C4}"/>
              </a:ext>
            </a:extLst>
          </p:cNvPr>
          <p:cNvGrpSpPr/>
          <p:nvPr/>
        </p:nvGrpSpPr>
        <p:grpSpPr>
          <a:xfrm>
            <a:off x="7165742" y="1821292"/>
            <a:ext cx="5310352" cy="3627120"/>
            <a:chOff x="7165742" y="1821292"/>
            <a:chExt cx="5310352" cy="3627120"/>
          </a:xfrm>
        </p:grpSpPr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FA1F147E-C168-BADF-76C9-3CD1D52E5D8E}"/>
                </a:ext>
              </a:extLst>
            </p:cNvPr>
            <p:cNvSpPr/>
            <p:nvPr/>
          </p:nvSpPr>
          <p:spPr>
            <a:xfrm>
              <a:off x="7165742" y="1821292"/>
              <a:ext cx="4480560" cy="36271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337370" dist="50800" dir="9480000" sx="102000" sy="102000" algn="ctr" rotWithShape="0">
                <a:srgbClr val="000000">
                  <a:alpha val="48365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244DE379-D06E-0DDB-7064-AC208E3DFCAE}"/>
                </a:ext>
              </a:extLst>
            </p:cNvPr>
            <p:cNvSpPr/>
            <p:nvPr/>
          </p:nvSpPr>
          <p:spPr>
            <a:xfrm>
              <a:off x="7450822" y="2852803"/>
              <a:ext cx="3910401" cy="400109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9F797CD2-428F-B673-16ED-3909EE6BFFC3}"/>
                </a:ext>
              </a:extLst>
            </p:cNvPr>
            <p:cNvSpPr txBox="1"/>
            <p:nvPr/>
          </p:nvSpPr>
          <p:spPr>
            <a:xfrm>
              <a:off x="7561963" y="2868191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i="0" u="none" strike="noStrike" dirty="0">
                  <a:solidFill>
                    <a:srgbClr val="363531"/>
                  </a:solidFill>
                  <a:effectLst/>
                </a:rPr>
                <a:t>•••••••••</a:t>
              </a:r>
              <a:endParaRPr lang="fr-FR" b="1" dirty="0"/>
            </a:p>
          </p:txBody>
        </p:sp>
        <p:sp>
          <p:nvSpPr>
            <p:cNvPr id="57" name="Rectangle : coins arrondis 56">
              <a:extLst>
                <a:ext uri="{FF2B5EF4-FFF2-40B4-BE49-F238E27FC236}">
                  <a16:creationId xmlns:a16="http://schemas.microsoft.com/office/drawing/2014/main" id="{47EE4516-F08D-60DE-CE76-2777750643AA}"/>
                </a:ext>
              </a:extLst>
            </p:cNvPr>
            <p:cNvSpPr/>
            <p:nvPr/>
          </p:nvSpPr>
          <p:spPr>
            <a:xfrm>
              <a:off x="7450822" y="2219811"/>
              <a:ext cx="3910401" cy="400109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 : coins arrondis 57">
              <a:extLst>
                <a:ext uri="{FF2B5EF4-FFF2-40B4-BE49-F238E27FC236}">
                  <a16:creationId xmlns:a16="http://schemas.microsoft.com/office/drawing/2014/main" id="{9340513D-CE09-A77C-94EC-D93ECED6FFC9}"/>
                </a:ext>
              </a:extLst>
            </p:cNvPr>
            <p:cNvSpPr/>
            <p:nvPr/>
          </p:nvSpPr>
          <p:spPr>
            <a:xfrm>
              <a:off x="8028041" y="4609734"/>
              <a:ext cx="2755962" cy="628363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D15B1E7-C729-6C6B-20A0-F4D84DBB9139}"/>
                </a:ext>
              </a:extLst>
            </p:cNvPr>
            <p:cNvSpPr txBox="1"/>
            <p:nvPr/>
          </p:nvSpPr>
          <p:spPr>
            <a:xfrm>
              <a:off x="8079310" y="4739249"/>
              <a:ext cx="2626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Créer un nouveau compte</a:t>
              </a:r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66D818B1-7DD7-560B-28F7-E516677E90DE}"/>
                </a:ext>
              </a:extLst>
            </p:cNvPr>
            <p:cNvSpPr txBox="1"/>
            <p:nvPr/>
          </p:nvSpPr>
          <p:spPr>
            <a:xfrm>
              <a:off x="7438524" y="2297780"/>
              <a:ext cx="503757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300" dirty="0"/>
                <a:t>Quel est l’impact de Facebook sur nos relations sociales</a:t>
              </a:r>
            </a:p>
          </p:txBody>
        </p:sp>
        <p:sp>
          <p:nvSpPr>
            <p:cNvPr id="61" name="Rectangle : coins arrondis 60">
              <a:extLst>
                <a:ext uri="{FF2B5EF4-FFF2-40B4-BE49-F238E27FC236}">
                  <a16:creationId xmlns:a16="http://schemas.microsoft.com/office/drawing/2014/main" id="{E9600C48-E9B1-CD18-0FCB-3E2D3BFDF706}"/>
                </a:ext>
              </a:extLst>
            </p:cNvPr>
            <p:cNvSpPr/>
            <p:nvPr/>
          </p:nvSpPr>
          <p:spPr>
            <a:xfrm>
              <a:off x="7450822" y="3485795"/>
              <a:ext cx="3910401" cy="53414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BCD0D68B-9B0C-FDA2-8341-B708D514B133}"/>
                </a:ext>
              </a:extLst>
            </p:cNvPr>
            <p:cNvSpPr txBox="1"/>
            <p:nvPr/>
          </p:nvSpPr>
          <p:spPr>
            <a:xfrm>
              <a:off x="8704355" y="3530699"/>
              <a:ext cx="15572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b="1" dirty="0">
                  <a:solidFill>
                    <a:schemeClr val="bg1"/>
                  </a:solidFill>
                </a:rPr>
                <a:t>Se connecter</a:t>
              </a:r>
              <a:endParaRPr lang="fr-FR" b="1" dirty="0">
                <a:solidFill>
                  <a:schemeClr val="bg1"/>
                </a:solidFill>
              </a:endParaRPr>
            </a:p>
          </p:txBody>
        </p:sp>
        <p:cxnSp>
          <p:nvCxnSpPr>
            <p:cNvPr id="1024" name="Connecteur droit 1023">
              <a:extLst>
                <a:ext uri="{FF2B5EF4-FFF2-40B4-BE49-F238E27FC236}">
                  <a16:creationId xmlns:a16="http://schemas.microsoft.com/office/drawing/2014/main" id="{9D901A12-B2D1-1ECF-C879-7B9BC4F0D73A}"/>
                </a:ext>
              </a:extLst>
            </p:cNvPr>
            <p:cNvCxnSpPr/>
            <p:nvPr/>
          </p:nvCxnSpPr>
          <p:spPr>
            <a:xfrm>
              <a:off x="7485560" y="4492746"/>
              <a:ext cx="3875663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ZoneTexte 1024">
              <a:extLst>
                <a:ext uri="{FF2B5EF4-FFF2-40B4-BE49-F238E27FC236}">
                  <a16:creationId xmlns:a16="http://schemas.microsoft.com/office/drawing/2014/main" id="{757801CF-DB6A-88EF-FA72-C93D54484330}"/>
                </a:ext>
              </a:extLst>
            </p:cNvPr>
            <p:cNvSpPr txBox="1"/>
            <p:nvPr/>
          </p:nvSpPr>
          <p:spPr>
            <a:xfrm>
              <a:off x="8357496" y="4049264"/>
              <a:ext cx="2250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1"/>
                  </a:solidFill>
                </a:rPr>
                <a:t>Mot de passe oublié ?</a:t>
              </a: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DBD1D70-B259-6998-6680-3014237D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1</a:t>
            </a:fld>
            <a:endParaRPr lang="fr-FR" sz="1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86C89D-8CAA-C07A-CC17-EEE06E507599}"/>
              </a:ext>
            </a:extLst>
          </p:cNvPr>
          <p:cNvSpPr txBox="1"/>
          <p:nvPr/>
        </p:nvSpPr>
        <p:spPr>
          <a:xfrm>
            <a:off x="1111728" y="219990"/>
            <a:ext cx="9968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solidFill>
                  <a:srgbClr val="3B579D"/>
                </a:solidFill>
              </a:rPr>
              <a:t>Quel est l’impact de Facebook sur nos relations sociales ?</a:t>
            </a:r>
          </a:p>
        </p:txBody>
      </p:sp>
    </p:spTree>
    <p:extLst>
      <p:ext uri="{BB962C8B-B14F-4D97-AF65-F5344CB8AC3E}">
        <p14:creationId xmlns:p14="http://schemas.microsoft.com/office/powerpoint/2010/main" val="319438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5CFAEEB1-5F6D-D6D7-549B-C5266C21774E}"/>
              </a:ext>
            </a:extLst>
          </p:cNvPr>
          <p:cNvGrpSpPr/>
          <p:nvPr/>
        </p:nvGrpSpPr>
        <p:grpSpPr>
          <a:xfrm>
            <a:off x="244150" y="179219"/>
            <a:ext cx="11743150" cy="6181343"/>
            <a:chOff x="1031081" y="700087"/>
            <a:chExt cx="10129837" cy="545782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687EB91-736A-8E2A-1050-748DAE496921}"/>
                </a:ext>
              </a:extLst>
            </p:cNvPr>
            <p:cNvSpPr/>
            <p:nvPr/>
          </p:nvSpPr>
          <p:spPr>
            <a:xfrm>
              <a:off x="1031081" y="700087"/>
              <a:ext cx="10129837" cy="54578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CD74FD-7707-9597-812E-E396657BC153}"/>
                </a:ext>
              </a:extLst>
            </p:cNvPr>
            <p:cNvSpPr/>
            <p:nvPr/>
          </p:nvSpPr>
          <p:spPr>
            <a:xfrm>
              <a:off x="1031081" y="700087"/>
              <a:ext cx="10129837" cy="81438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E6F2DD9C-C28F-959A-63B3-8291DC59C4BA}"/>
                </a:ext>
              </a:extLst>
            </p:cNvPr>
            <p:cNvSpPr/>
            <p:nvPr/>
          </p:nvSpPr>
          <p:spPr>
            <a:xfrm>
              <a:off x="1871663" y="819281"/>
              <a:ext cx="628650" cy="576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66492234-4B4B-E957-B520-DB16503F2512}"/>
                </a:ext>
              </a:extLst>
            </p:cNvPr>
            <p:cNvSpPr txBox="1"/>
            <p:nvPr/>
          </p:nvSpPr>
          <p:spPr>
            <a:xfrm>
              <a:off x="2971800" y="810506"/>
              <a:ext cx="21627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chemeClr val="bg1"/>
                  </a:solidFill>
                </a:rPr>
                <a:t>SOMMAIRE</a:t>
              </a:r>
            </a:p>
          </p:txBody>
        </p:sp>
        <p:pic>
          <p:nvPicPr>
            <p:cNvPr id="15" name="Graphique 14" descr="Informations avec un remplissage uni">
              <a:extLst>
                <a:ext uri="{FF2B5EF4-FFF2-40B4-BE49-F238E27FC236}">
                  <a16:creationId xmlns:a16="http://schemas.microsoft.com/office/drawing/2014/main" id="{6355CD02-E218-B6BB-8975-1AD7197A7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7578" y="896065"/>
              <a:ext cx="421107" cy="421107"/>
            </a:xfrm>
            <a:prstGeom prst="rect">
              <a:avLst/>
            </a:prstGeom>
          </p:spPr>
        </p:pic>
        <p:pic>
          <p:nvPicPr>
            <p:cNvPr id="17" name="Graphique 16" descr="Appareil photo avec un remplissage uni">
              <a:extLst>
                <a:ext uri="{FF2B5EF4-FFF2-40B4-BE49-F238E27FC236}">
                  <a16:creationId xmlns:a16="http://schemas.microsoft.com/office/drawing/2014/main" id="{F237F2BB-17FB-62CC-2403-280A4FED7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04616" y="896064"/>
              <a:ext cx="421108" cy="421108"/>
            </a:xfrm>
            <a:prstGeom prst="rect">
              <a:avLst/>
            </a:prstGeom>
          </p:spPr>
        </p:pic>
        <p:pic>
          <p:nvPicPr>
            <p:cNvPr id="19" name="Graphique 18" descr="Ligne fléchée : droite contour">
              <a:extLst>
                <a:ext uri="{FF2B5EF4-FFF2-40B4-BE49-F238E27FC236}">
                  <a16:creationId xmlns:a16="http://schemas.microsoft.com/office/drawing/2014/main" id="{BBD09476-83F1-97FB-9DC3-CA3D36874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1230" y="897390"/>
              <a:ext cx="497891" cy="497891"/>
            </a:xfrm>
            <a:prstGeom prst="rect">
              <a:avLst/>
            </a:prstGeom>
          </p:spPr>
        </p:pic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3CB008E0-AA4D-DC38-E2B7-AE4AFB3099B4}"/>
                </a:ext>
              </a:extLst>
            </p:cNvPr>
            <p:cNvSpPr/>
            <p:nvPr/>
          </p:nvSpPr>
          <p:spPr>
            <a:xfrm>
              <a:off x="2391250" y="2419397"/>
              <a:ext cx="7243315" cy="6113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10888E0F-348C-A174-7EA4-8282FDC96DFC}"/>
                </a:ext>
              </a:extLst>
            </p:cNvPr>
            <p:cNvSpPr/>
            <p:nvPr/>
          </p:nvSpPr>
          <p:spPr>
            <a:xfrm>
              <a:off x="1875090" y="3615763"/>
              <a:ext cx="7942603" cy="65236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0082816-10B8-AE9B-223E-8A549B07A9FA}"/>
                </a:ext>
              </a:extLst>
            </p:cNvPr>
            <p:cNvSpPr/>
            <p:nvPr/>
          </p:nvSpPr>
          <p:spPr>
            <a:xfrm>
              <a:off x="1471785" y="2454719"/>
              <a:ext cx="628650" cy="576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60" name="ZoneTexte 59">
            <a:extLst>
              <a:ext uri="{FF2B5EF4-FFF2-40B4-BE49-F238E27FC236}">
                <a16:creationId xmlns:a16="http://schemas.microsoft.com/office/drawing/2014/main" id="{0FE85C25-4010-A9DB-A22D-79A661E3DC9A}"/>
              </a:ext>
            </a:extLst>
          </p:cNvPr>
          <p:cNvSpPr txBox="1"/>
          <p:nvPr/>
        </p:nvSpPr>
        <p:spPr>
          <a:xfrm>
            <a:off x="1974144" y="747238"/>
            <a:ext cx="3972296" cy="207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5D44445F-6B11-547C-2025-A33593F00D0B}"/>
              </a:ext>
            </a:extLst>
          </p:cNvPr>
          <p:cNvSpPr txBox="1"/>
          <p:nvPr/>
        </p:nvSpPr>
        <p:spPr>
          <a:xfrm>
            <a:off x="1025721" y="3577243"/>
            <a:ext cx="9338441" cy="53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2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II. </a:t>
            </a:r>
            <a:r>
              <a:rPr lang="fr-F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 SOCIABILITÉ NUMÉRIQUE ET VIE SOCIALE RÉELLE </a:t>
            </a:r>
            <a:endParaRPr lang="fr-F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51DD5F9D-A135-2A21-08DB-9DC6ADB14E5B}"/>
              </a:ext>
            </a:extLst>
          </p:cNvPr>
          <p:cNvSpPr txBox="1"/>
          <p:nvPr/>
        </p:nvSpPr>
        <p:spPr>
          <a:xfrm>
            <a:off x="1820945" y="2178626"/>
            <a:ext cx="8786095" cy="53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 LE RAPPORT DES UTILISATEURS À LA PLATEFORME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6CDD1B1-04E6-4C03-D12D-B922689B4F50}"/>
              </a:ext>
            </a:extLst>
          </p:cNvPr>
          <p:cNvSpPr/>
          <p:nvPr/>
        </p:nvSpPr>
        <p:spPr>
          <a:xfrm>
            <a:off x="10844339" y="3517515"/>
            <a:ext cx="728771" cy="6523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F5A2E46-40C7-C491-C6E8-86AEDCDB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2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14721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E3A3CF3E-AB71-F9C4-EE45-B6E44FF88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207" y="2012183"/>
            <a:ext cx="6089168" cy="370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5599C810-F4D0-2A82-DBF2-1FE7A9B73B32}"/>
              </a:ext>
            </a:extLst>
          </p:cNvPr>
          <p:cNvGrpSpPr/>
          <p:nvPr/>
        </p:nvGrpSpPr>
        <p:grpSpPr>
          <a:xfrm>
            <a:off x="368709" y="178784"/>
            <a:ext cx="11400503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019CD7-7023-BEF2-658B-27490DEF46E8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4D521E-B6B3-04FF-BD15-A2CBBDF2A3E5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" name="Graphique 9" descr="Appareil photo avec un remplissage uni">
              <a:extLst>
                <a:ext uri="{FF2B5EF4-FFF2-40B4-BE49-F238E27FC236}">
                  <a16:creationId xmlns:a16="http://schemas.microsoft.com/office/drawing/2014/main" id="{3EE6D0D3-0ADB-4F21-E332-D9AED6814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11" name="Graphique 10" descr="Loupe avec un remplissage uni">
              <a:extLst>
                <a:ext uri="{FF2B5EF4-FFF2-40B4-BE49-F238E27FC236}">
                  <a16:creationId xmlns:a16="http://schemas.microsoft.com/office/drawing/2014/main" id="{45950CEC-D7D8-3360-C0A7-EF36B854C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6BD17923-0CC4-AA9E-CEDA-2329CCD77B07}"/>
                </a:ext>
              </a:extLst>
            </p:cNvPr>
            <p:cNvSpPr txBox="1"/>
            <p:nvPr/>
          </p:nvSpPr>
          <p:spPr>
            <a:xfrm>
              <a:off x="585213" y="1073397"/>
              <a:ext cx="6083504" cy="61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000000"/>
                  </a:solidFill>
                </a:rPr>
                <a:t>P</a:t>
              </a:r>
              <a:r>
                <a:rPr lang="fr-FR" sz="1800" b="0" dirty="0">
                  <a:solidFill>
                    <a:srgbClr val="000000"/>
                  </a:solidFill>
                  <a:effectLst/>
                </a:rPr>
                <a:t>révision de l’évolution du nombre d’utilisateurs actifs de Facebook dans le monde entre 2022 et 2030 </a:t>
              </a:r>
              <a:r>
                <a:rPr lang="fr-FR" dirty="0"/>
                <a:t> 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FDA7FDBA-A034-5028-85F4-E39EAC252727}"/>
                </a:ext>
              </a:extLst>
            </p:cNvPr>
            <p:cNvSpPr txBox="1"/>
            <p:nvPr/>
          </p:nvSpPr>
          <p:spPr>
            <a:xfrm>
              <a:off x="937260" y="411981"/>
              <a:ext cx="2379714" cy="497537"/>
            </a:xfrm>
            <a:prstGeom prst="rect">
              <a:avLst/>
            </a:prstGeom>
            <a:noFill/>
            <a:effectLst>
              <a:outerShdw dist="50800" sx="1000" sy="1000" algn="ctr" rotWithShape="0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r-FR" sz="2800" b="1" dirty="0">
                  <a:solidFill>
                    <a:schemeClr val="bg1"/>
                  </a:solidFill>
                </a:rPr>
                <a:t>INTRODUCTION</a:t>
              </a:r>
            </a:p>
          </p:txBody>
        </p:sp>
        <p:pic>
          <p:nvPicPr>
            <p:cNvPr id="14" name="Graphique 13" descr="Signe pouce en haut avec un remplissage uni">
              <a:extLst>
                <a:ext uri="{FF2B5EF4-FFF2-40B4-BE49-F238E27FC236}">
                  <a16:creationId xmlns:a16="http://schemas.microsoft.com/office/drawing/2014/main" id="{6FA13412-66C0-A335-6CEB-72BC1D0A1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15" name="Graphique 14" descr="Commentaire, ajouter avec un remplissage uni">
              <a:extLst>
                <a:ext uri="{FF2B5EF4-FFF2-40B4-BE49-F238E27FC236}">
                  <a16:creationId xmlns:a16="http://schemas.microsoft.com/office/drawing/2014/main" id="{2790C895-4926-8830-CE20-A0436B90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A2452488-BB88-5FAF-0ACA-1A584909296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F07AEB6C-D1D7-810C-572D-F2804280525C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4931B21C-A263-61BA-3C80-C78679E219CF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E34467B4-EC84-1ECB-0637-119457D82A1D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pic>
        <p:nvPicPr>
          <p:cNvPr id="3078" name="Picture 6" descr="image">
            <a:extLst>
              <a:ext uri="{FF2B5EF4-FFF2-40B4-BE49-F238E27FC236}">
                <a16:creationId xmlns:a16="http://schemas.microsoft.com/office/drawing/2014/main" id="{79285099-2C18-EB00-B77F-3F8CEDB21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810" y="1606375"/>
            <a:ext cx="7076890" cy="430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5336B071-8EBC-A444-D2F8-E0E000D70A70}"/>
                  </a:ext>
                </a:extLst>
              </p:cNvPr>
              <p:cNvSpPr txBox="1"/>
              <p:nvPr/>
            </p:nvSpPr>
            <p:spPr>
              <a:xfrm>
                <a:off x="7016507" y="3328170"/>
                <a:ext cx="2518962" cy="64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=53,535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+165,53</m:t>
                      </m:r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R</a:t>
                </a:r>
                <a:r>
                  <a:rPr lang="fr-FR" baseline="30000" dirty="0"/>
                  <a:t>2 </a:t>
                </a:r>
                <a:r>
                  <a:rPr lang="fr-FR" dirty="0"/>
                  <a:t>= </a:t>
                </a:r>
                <a:r>
                  <a:rPr lang="fr-FR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0,9974</a:t>
                </a:r>
                <a:r>
                  <a:rPr lang="fr-FR" dirty="0">
                    <a:effectLst/>
                  </a:rPr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5336B071-8EBC-A444-D2F8-E0E000D70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507" y="3328170"/>
                <a:ext cx="2518962" cy="648000"/>
              </a:xfrm>
              <a:prstGeom prst="rect">
                <a:avLst/>
              </a:prstGeom>
              <a:blipFill>
                <a:blip r:embed="rId1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55397D1-9CFB-8030-E85C-9AFC93B5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3</a:t>
            </a:fld>
            <a:endParaRPr lang="fr-FR" sz="18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29E1846-B24E-FAEE-36BF-7EB7F0B017DD}"/>
              </a:ext>
            </a:extLst>
          </p:cNvPr>
          <p:cNvSpPr txBox="1"/>
          <p:nvPr/>
        </p:nvSpPr>
        <p:spPr>
          <a:xfrm>
            <a:off x="8063380" y="5595830"/>
            <a:ext cx="1945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Source : Statista</a:t>
            </a:r>
          </a:p>
        </p:txBody>
      </p:sp>
    </p:spTree>
    <p:extLst>
      <p:ext uri="{BB962C8B-B14F-4D97-AF65-F5344CB8AC3E}">
        <p14:creationId xmlns:p14="http://schemas.microsoft.com/office/powerpoint/2010/main" val="60637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3ACAE39-3EDB-00B9-C91C-66A75D3E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4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13A3475E-AD8D-6F3D-6C34-DA6DAFEA39DA}"/>
              </a:ext>
            </a:extLst>
          </p:cNvPr>
          <p:cNvGrpSpPr/>
          <p:nvPr/>
        </p:nvGrpSpPr>
        <p:grpSpPr>
          <a:xfrm>
            <a:off x="395748" y="204079"/>
            <a:ext cx="11400503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BB3762-0812-7438-A611-2AB2DF3E8038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6FC125-E518-2137-72FF-067DD20FDA0E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" name="Graphique 5" descr="Appareil photo avec un remplissage uni">
              <a:extLst>
                <a:ext uri="{FF2B5EF4-FFF2-40B4-BE49-F238E27FC236}">
                  <a16:creationId xmlns:a16="http://schemas.microsoft.com/office/drawing/2014/main" id="{80C1B6E5-0863-5BD4-679B-58DEDCA84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7" name="Graphique 6" descr="Loupe avec un remplissage uni">
              <a:extLst>
                <a:ext uri="{FF2B5EF4-FFF2-40B4-BE49-F238E27FC236}">
                  <a16:creationId xmlns:a16="http://schemas.microsoft.com/office/drawing/2014/main" id="{359CD93E-565E-6479-6EAA-3B7145C8A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CA58573-349D-7770-A2AA-73250BDA00D0}"/>
                </a:ext>
              </a:extLst>
            </p:cNvPr>
            <p:cNvSpPr txBox="1"/>
            <p:nvPr/>
          </p:nvSpPr>
          <p:spPr>
            <a:xfrm>
              <a:off x="937260" y="411981"/>
              <a:ext cx="2379714" cy="497537"/>
            </a:xfrm>
            <a:prstGeom prst="rect">
              <a:avLst/>
            </a:prstGeom>
            <a:noFill/>
            <a:effectLst>
              <a:outerShdw dist="50800" sx="1000" sy="1000" algn="ctr" rotWithShape="0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fr-FR" sz="2800" b="1" dirty="0">
                  <a:solidFill>
                    <a:schemeClr val="bg1"/>
                  </a:solidFill>
                </a:rPr>
                <a:t>INTRODUCTION</a:t>
              </a:r>
            </a:p>
          </p:txBody>
        </p:sp>
        <p:pic>
          <p:nvPicPr>
            <p:cNvPr id="10" name="Graphique 9" descr="Signe pouce en haut avec un remplissage uni">
              <a:extLst>
                <a:ext uri="{FF2B5EF4-FFF2-40B4-BE49-F238E27FC236}">
                  <a16:creationId xmlns:a16="http://schemas.microsoft.com/office/drawing/2014/main" id="{8F00054D-6678-AC8C-49E5-14EC4957C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11" name="Graphique 10" descr="Commentaire, ajouter avec un remplissage uni">
              <a:extLst>
                <a:ext uri="{FF2B5EF4-FFF2-40B4-BE49-F238E27FC236}">
                  <a16:creationId xmlns:a16="http://schemas.microsoft.com/office/drawing/2014/main" id="{94662D98-1E4A-0997-0EDA-21D999DC4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38A44FE2-DBCB-4EED-7874-C308270874F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05D9A989-9920-520B-B352-7A99819BFF44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3A912858-DC7B-2060-C268-638D31269ED4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C5E90AE5-EEF6-3AE0-3121-79D7C36DC93F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2EA0301B-ACC6-95EB-7C31-BA977F027A3F}"/>
              </a:ext>
            </a:extLst>
          </p:cNvPr>
          <p:cNvSpPr txBox="1"/>
          <p:nvPr/>
        </p:nvSpPr>
        <p:spPr>
          <a:xfrm>
            <a:off x="2105745" y="1023698"/>
            <a:ext cx="4634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d’utilisateurs actifs par réseau en 2013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F48F9B4-480C-DCB2-17F2-9B7FE7DC93C5}"/>
              </a:ext>
            </a:extLst>
          </p:cNvPr>
          <p:cNvSpPr txBox="1"/>
          <p:nvPr/>
        </p:nvSpPr>
        <p:spPr>
          <a:xfrm>
            <a:off x="7135318" y="2483234"/>
            <a:ext cx="3432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/>
              <a:t>40% de la population française active sur Facebook en 2013</a:t>
            </a:r>
          </a:p>
        </p:txBody>
      </p:sp>
      <p:sp>
        <p:nvSpPr>
          <p:cNvPr id="8" name="Espace réservé du numéro de diapositive 1">
            <a:extLst>
              <a:ext uri="{FF2B5EF4-FFF2-40B4-BE49-F238E27FC236}">
                <a16:creationId xmlns:a16="http://schemas.microsoft.com/office/drawing/2014/main" id="{230AF547-522A-D779-EE89-ED0CE6EA1E2B}"/>
              </a:ext>
            </a:extLst>
          </p:cNvPr>
          <p:cNvSpPr txBox="1">
            <a:spLocks/>
          </p:cNvSpPr>
          <p:nvPr/>
        </p:nvSpPr>
        <p:spPr>
          <a:xfrm>
            <a:off x="9398696" y="64543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A65A16-1EE7-D449-A5C6-16E02F6016E5}" type="slidenum">
              <a:rPr lang="fr-FR" sz="1800" smtClean="0"/>
              <a:pPr/>
              <a:t>4</a:t>
            </a:fld>
            <a:endParaRPr lang="fr-FR" sz="1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8B7CD68-897E-6ADD-4A14-1B828FA45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4" t="21767" r="54383" b="1991"/>
          <a:stretch/>
        </p:blipFill>
        <p:spPr bwMode="auto">
          <a:xfrm>
            <a:off x="2676336" y="1352391"/>
            <a:ext cx="3701762" cy="454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C5A17415-F40D-08DC-58C4-C4AA1DA44D6A}"/>
              </a:ext>
            </a:extLst>
          </p:cNvPr>
          <p:cNvSpPr txBox="1"/>
          <p:nvPr/>
        </p:nvSpPr>
        <p:spPr>
          <a:xfrm>
            <a:off x="2577976" y="5440057"/>
            <a:ext cx="2102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Source : alixtauzin.com</a:t>
            </a:r>
          </a:p>
        </p:txBody>
      </p:sp>
    </p:spTree>
    <p:extLst>
      <p:ext uri="{BB962C8B-B14F-4D97-AF65-F5344CB8AC3E}">
        <p14:creationId xmlns:p14="http://schemas.microsoft.com/office/powerpoint/2010/main" val="367825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AF04B710-79BA-B107-56BF-5AAF9191BCE6}"/>
              </a:ext>
            </a:extLst>
          </p:cNvPr>
          <p:cNvGrpSpPr/>
          <p:nvPr/>
        </p:nvGrpSpPr>
        <p:grpSpPr>
          <a:xfrm>
            <a:off x="368709" y="178784"/>
            <a:ext cx="11400503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744F8E-DB68-86E1-5059-CC15FE048789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4CC5BF-639E-3223-3ED5-20C27496B796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3" name="Graphique 22" descr="Appareil photo avec un remplissage uni">
              <a:extLst>
                <a:ext uri="{FF2B5EF4-FFF2-40B4-BE49-F238E27FC236}">
                  <a16:creationId xmlns:a16="http://schemas.microsoft.com/office/drawing/2014/main" id="{7DD28900-B16D-C3E0-CCC6-7C3227A56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24" name="Graphique 23" descr="Loupe avec un remplissage uni">
              <a:extLst>
                <a:ext uri="{FF2B5EF4-FFF2-40B4-BE49-F238E27FC236}">
                  <a16:creationId xmlns:a16="http://schemas.microsoft.com/office/drawing/2014/main" id="{986A78FE-C866-CA5C-76B2-FEBB1F459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1FF850F9-7850-2A4C-5C2D-0A931FFFE4A5}"/>
                </a:ext>
              </a:extLst>
            </p:cNvPr>
            <p:cNvSpPr txBox="1"/>
            <p:nvPr/>
          </p:nvSpPr>
          <p:spPr>
            <a:xfrm>
              <a:off x="720667" y="1292679"/>
              <a:ext cx="6083504" cy="351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fr-FR" dirty="0"/>
            </a:p>
          </p:txBody>
        </p:sp>
        <p:pic>
          <p:nvPicPr>
            <p:cNvPr id="27" name="Graphique 26" descr="Signe pouce en haut avec un remplissage uni">
              <a:extLst>
                <a:ext uri="{FF2B5EF4-FFF2-40B4-BE49-F238E27FC236}">
                  <a16:creationId xmlns:a16="http://schemas.microsoft.com/office/drawing/2014/main" id="{3EFEBD26-BC7C-8C08-662F-067DFF65A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28" name="Graphique 27" descr="Commentaire, ajouter avec un remplissage uni">
              <a:extLst>
                <a:ext uri="{FF2B5EF4-FFF2-40B4-BE49-F238E27FC236}">
                  <a16:creationId xmlns:a16="http://schemas.microsoft.com/office/drawing/2014/main" id="{F7192EA7-18F8-D37F-BBA4-FF65ACA9A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509A5733-FB91-DC10-D799-E15A69D1FB96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3325BDDC-34E0-D409-2961-F479005D57E5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02387C7B-A993-8740-BA86-673A737C64E4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B4D3460C-F91E-20EA-AF73-EF1E53D82F5C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033AE701-8769-55F8-4964-32D97990EF92}"/>
              </a:ext>
            </a:extLst>
          </p:cNvPr>
          <p:cNvSpPr txBox="1"/>
          <p:nvPr/>
        </p:nvSpPr>
        <p:spPr>
          <a:xfrm>
            <a:off x="3033813" y="237217"/>
            <a:ext cx="3567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LE JEU DE DONNÉES</a:t>
            </a:r>
          </a:p>
        </p:txBody>
      </p:sp>
      <p:pic>
        <p:nvPicPr>
          <p:cNvPr id="1026" name="Picture 2" descr="Population - Free education icons">
            <a:extLst>
              <a:ext uri="{FF2B5EF4-FFF2-40B4-BE49-F238E27FC236}">
                <a16:creationId xmlns:a16="http://schemas.microsoft.com/office/drawing/2014/main" id="{D66637D5-5CA3-5290-5A0D-E0A6DC862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81" y="1211852"/>
            <a:ext cx="1371160" cy="137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20142D2-C4FE-B3E3-E26D-F1C08F5304DA}"/>
              </a:ext>
            </a:extLst>
          </p:cNvPr>
          <p:cNvSpPr txBox="1"/>
          <p:nvPr/>
        </p:nvSpPr>
        <p:spPr>
          <a:xfrm>
            <a:off x="2665804" y="1594015"/>
            <a:ext cx="1223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2 000</a:t>
            </a:r>
          </a:p>
        </p:txBody>
      </p:sp>
      <p:pic>
        <p:nvPicPr>
          <p:cNvPr id="1030" name="Picture 6" descr="Date d'échéance - Icônes heure et date gratuites">
            <a:extLst>
              <a:ext uri="{FF2B5EF4-FFF2-40B4-BE49-F238E27FC236}">
                <a16:creationId xmlns:a16="http://schemas.microsoft.com/office/drawing/2014/main" id="{FF62DA34-2AF4-A607-2CB1-770F98A6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866" y="3030540"/>
            <a:ext cx="1052990" cy="105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CD80F31F-9506-BF0A-8E1A-7646FE9E20B7}"/>
              </a:ext>
            </a:extLst>
          </p:cNvPr>
          <p:cNvSpPr txBox="1"/>
          <p:nvPr/>
        </p:nvSpPr>
        <p:spPr>
          <a:xfrm>
            <a:off x="2643041" y="3237854"/>
            <a:ext cx="1223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2013</a:t>
            </a:r>
          </a:p>
        </p:txBody>
      </p:sp>
      <p:sp>
        <p:nvSpPr>
          <p:cNvPr id="20" name="AutoShape 4" descr="Harris-Logo-ALL - France">
            <a:extLst>
              <a:ext uri="{FF2B5EF4-FFF2-40B4-BE49-F238E27FC236}">
                <a16:creationId xmlns:a16="http://schemas.microsoft.com/office/drawing/2014/main" id="{50675839-5C87-5874-946B-4708AC148F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78250" y="2781300"/>
            <a:ext cx="46355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32" name="Picture 8" descr="Harris Interactive - Market Research News">
            <a:extLst>
              <a:ext uri="{FF2B5EF4-FFF2-40B4-BE49-F238E27FC236}">
                <a16:creationId xmlns:a16="http://schemas.microsoft.com/office/drawing/2014/main" id="{BC8DD5B6-500A-306F-1F16-BB3BAE7503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35" b="36238"/>
          <a:stretch/>
        </p:blipFill>
        <p:spPr bwMode="auto">
          <a:xfrm>
            <a:off x="1214291" y="4469462"/>
            <a:ext cx="2857500" cy="83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B4ACB9E4-C38E-0F80-C297-798AD377DD9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773" y="1349933"/>
            <a:ext cx="6231936" cy="39395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30104F8-6490-30D5-6EBF-4786C033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5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95726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209BB7-15A5-1802-BDF9-E8E93148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6</a:t>
            </a:fld>
            <a:endParaRPr lang="fr-FR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12CAD619-90D5-6F97-A18C-B01FF04EC979}"/>
              </a:ext>
            </a:extLst>
          </p:cNvPr>
          <p:cNvGrpSpPr/>
          <p:nvPr/>
        </p:nvGrpSpPr>
        <p:grpSpPr>
          <a:xfrm>
            <a:off x="368710" y="178784"/>
            <a:ext cx="11305548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426E70-BF7F-FB5F-A0C8-7C859DA85821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6914F36-7734-A802-2418-52CCE0869DCE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1" name="Graphique 20" descr="Appareil photo avec un remplissage uni">
              <a:extLst>
                <a:ext uri="{FF2B5EF4-FFF2-40B4-BE49-F238E27FC236}">
                  <a16:creationId xmlns:a16="http://schemas.microsoft.com/office/drawing/2014/main" id="{D1103DE9-93A5-C474-0FA5-91D7086CE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22" name="Graphique 21" descr="Loupe avec un remplissage uni">
              <a:extLst>
                <a:ext uri="{FF2B5EF4-FFF2-40B4-BE49-F238E27FC236}">
                  <a16:creationId xmlns:a16="http://schemas.microsoft.com/office/drawing/2014/main" id="{13D3AE1C-689B-6A56-33E2-B07F9311B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CF5D5A3A-DE3A-4432-0D1D-CECD06727B76}"/>
                </a:ext>
              </a:extLst>
            </p:cNvPr>
            <p:cNvSpPr txBox="1"/>
            <p:nvPr/>
          </p:nvSpPr>
          <p:spPr>
            <a:xfrm>
              <a:off x="497143" y="442003"/>
              <a:ext cx="6476340" cy="506744"/>
            </a:xfrm>
            <a:prstGeom prst="rect">
              <a:avLst/>
            </a:prstGeom>
            <a:noFill/>
            <a:effectLst>
              <a:outerShdw dist="50800" sx="1000" sy="1000" algn="ctr" rotWithShape="0">
                <a:srgbClr val="000000"/>
              </a:outerShdw>
            </a:effectLst>
          </p:spPr>
          <p:txBody>
            <a:bodyPr wrap="square" rtlCol="0">
              <a:spAutoFit/>
            </a:bodyPr>
            <a:lstStyle/>
            <a:p>
              <a:pPr lvl="1">
                <a:lnSpc>
                  <a:spcPct val="107000"/>
                </a:lnSpc>
                <a:spcAft>
                  <a:spcPts val="800"/>
                </a:spcAft>
              </a:pPr>
              <a:r>
                <a:rPr lang="fr-FR" sz="2800" b="1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POUR INFORMATION</a:t>
              </a:r>
              <a:endParaRPr lang="fr-FR" sz="28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Graphique 24" descr="Signe pouce en haut avec un remplissage uni">
              <a:extLst>
                <a:ext uri="{FF2B5EF4-FFF2-40B4-BE49-F238E27FC236}">
                  <a16:creationId xmlns:a16="http://schemas.microsoft.com/office/drawing/2014/main" id="{972C5F10-AFBE-8393-22A5-191098602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26" name="Graphique 25" descr="Commentaire, ajouter avec un remplissage uni">
              <a:extLst>
                <a:ext uri="{FF2B5EF4-FFF2-40B4-BE49-F238E27FC236}">
                  <a16:creationId xmlns:a16="http://schemas.microsoft.com/office/drawing/2014/main" id="{62C5DEBA-6B5B-CAC2-810C-AFCBD5671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0604FCC9-881E-176C-E470-A370E27252C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AC7FBCAD-185C-72D8-870F-F693AB48A6DA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261D719-F86C-155A-1278-0D842FED9F19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5CFA3A5A-B114-4155-1716-22CE37ECCA39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pic>
        <p:nvPicPr>
          <p:cNvPr id="3" name="Image 2" descr="Réseaux sociaux et messageries les plus visités chaque jour en France. 15-24 Ans. 2023 (Mediamétrie). Voir plus dans le Datamind">
            <a:extLst>
              <a:ext uri="{FF2B5EF4-FFF2-40B4-BE49-F238E27FC236}">
                <a16:creationId xmlns:a16="http://schemas.microsoft.com/office/drawing/2014/main" id="{D77F7706-1E72-3FFD-AB0F-EBBA602B72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495" y="1032111"/>
            <a:ext cx="8561009" cy="49061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D32F87C-59DB-22AD-A085-5478A3D81658}"/>
              </a:ext>
            </a:extLst>
          </p:cNvPr>
          <p:cNvSpPr txBox="1"/>
          <p:nvPr/>
        </p:nvSpPr>
        <p:spPr>
          <a:xfrm>
            <a:off x="777388" y="3244334"/>
            <a:ext cx="1140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En 2023</a:t>
            </a:r>
          </a:p>
        </p:txBody>
      </p:sp>
      <p:sp>
        <p:nvSpPr>
          <p:cNvPr id="5" name="Espace réservé du numéro de diapositive 1">
            <a:extLst>
              <a:ext uri="{FF2B5EF4-FFF2-40B4-BE49-F238E27FC236}">
                <a16:creationId xmlns:a16="http://schemas.microsoft.com/office/drawing/2014/main" id="{0644780A-5C41-0511-7A7F-B6021B2B1F16}"/>
              </a:ext>
            </a:extLst>
          </p:cNvPr>
          <p:cNvSpPr txBox="1">
            <a:spLocks/>
          </p:cNvSpPr>
          <p:nvPr/>
        </p:nvSpPr>
        <p:spPr>
          <a:xfrm>
            <a:off x="9398696" y="64543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A65A16-1EE7-D449-A5C6-16E02F6016E5}" type="slidenum">
              <a:rPr lang="fr-FR" sz="1800" smtClean="0"/>
              <a:pPr/>
              <a:t>6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11009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D84239ED-0D28-A9A6-B263-7D5B23374980}"/>
              </a:ext>
            </a:extLst>
          </p:cNvPr>
          <p:cNvGrpSpPr/>
          <p:nvPr/>
        </p:nvGrpSpPr>
        <p:grpSpPr>
          <a:xfrm>
            <a:off x="395748" y="136525"/>
            <a:ext cx="11428821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C7B762-038F-B94F-545F-632B52BFFDBA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B2A2BB-8FEF-3709-D9F0-5A749D56047F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8" name="Graphique 7" descr="Appareil photo avec un remplissage uni">
              <a:extLst>
                <a:ext uri="{FF2B5EF4-FFF2-40B4-BE49-F238E27FC236}">
                  <a16:creationId xmlns:a16="http://schemas.microsoft.com/office/drawing/2014/main" id="{08682571-49B0-AC66-F847-8214C80AE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9" name="Graphique 8" descr="Loupe avec un remplissage uni">
              <a:extLst>
                <a:ext uri="{FF2B5EF4-FFF2-40B4-BE49-F238E27FC236}">
                  <a16:creationId xmlns:a16="http://schemas.microsoft.com/office/drawing/2014/main" id="{A533F595-6A9E-516E-EFC6-9CF9098F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pic>
          <p:nvPicPr>
            <p:cNvPr id="12" name="Graphique 11" descr="Signe pouce en haut avec un remplissage uni">
              <a:extLst>
                <a:ext uri="{FF2B5EF4-FFF2-40B4-BE49-F238E27FC236}">
                  <a16:creationId xmlns:a16="http://schemas.microsoft.com/office/drawing/2014/main" id="{C4D3CB8B-AC0C-7349-6BB1-28B6AF927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13" name="Graphique 12" descr="Commentaire, ajouter avec un remplissage uni">
              <a:extLst>
                <a:ext uri="{FF2B5EF4-FFF2-40B4-BE49-F238E27FC236}">
                  <a16:creationId xmlns:a16="http://schemas.microsoft.com/office/drawing/2014/main" id="{52F9B36A-5161-3FDF-CA7C-FDD947EFC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E263E05F-8B59-EC17-2ADB-80A53BE44A90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D802E536-D29F-637F-6069-F36CE199E61C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B8027664-3574-5CB2-BB79-E4448CD961B7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B1FBE39F-4DB9-6EE7-F946-72E3DC9C5DD0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graphicFrame>
        <p:nvGraphicFramePr>
          <p:cNvPr id="18" name="Tableau 8">
            <a:extLst>
              <a:ext uri="{FF2B5EF4-FFF2-40B4-BE49-F238E27FC236}">
                <a16:creationId xmlns:a16="http://schemas.microsoft.com/office/drawing/2014/main" id="{4AC4098A-5462-51B2-6B34-5CC4755D7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333048"/>
              </p:ext>
            </p:extLst>
          </p:nvPr>
        </p:nvGraphicFramePr>
        <p:xfrm>
          <a:off x="1178042" y="2526622"/>
          <a:ext cx="4744705" cy="2123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638">
                  <a:extLst>
                    <a:ext uri="{9D8B030D-6E8A-4147-A177-3AD203B41FA5}">
                      <a16:colId xmlns:a16="http://schemas.microsoft.com/office/drawing/2014/main" val="1541551496"/>
                    </a:ext>
                  </a:extLst>
                </a:gridCol>
                <a:gridCol w="2608067">
                  <a:extLst>
                    <a:ext uri="{9D8B030D-6E8A-4147-A177-3AD203B41FA5}">
                      <a16:colId xmlns:a16="http://schemas.microsoft.com/office/drawing/2014/main" val="3298917888"/>
                    </a:ext>
                  </a:extLst>
                </a:gridCol>
              </a:tblGrid>
              <a:tr h="5737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Temps de connexion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Temps retenu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238054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&lt;30 min 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0,25 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77118575"/>
                  </a:ext>
                </a:extLst>
              </a:tr>
              <a:tr h="444460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30 min-1h 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0,75 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44634875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1h-2h 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1,5 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84608586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&gt;2h 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i="0" dirty="0">
                          <a:effectLst/>
                          <a:latin typeface="+mn-lt"/>
                        </a:rPr>
                        <a:t>2 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02239389"/>
                  </a:ext>
                </a:extLst>
              </a:tr>
            </a:tbl>
          </a:graphicData>
        </a:graphic>
      </p:graphicFrame>
      <p:graphicFrame>
        <p:nvGraphicFramePr>
          <p:cNvPr id="19" name="Tableau 6">
            <a:extLst>
              <a:ext uri="{FF2B5EF4-FFF2-40B4-BE49-F238E27FC236}">
                <a16:creationId xmlns:a16="http://schemas.microsoft.com/office/drawing/2014/main" id="{C0F7AAEB-4F8C-08D5-0C99-0F40AB61A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665687"/>
              </p:ext>
            </p:extLst>
          </p:nvPr>
        </p:nvGraphicFramePr>
        <p:xfrm>
          <a:off x="6705040" y="1975306"/>
          <a:ext cx="4041966" cy="3097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983">
                  <a:extLst>
                    <a:ext uri="{9D8B030D-6E8A-4147-A177-3AD203B41FA5}">
                      <a16:colId xmlns:a16="http://schemas.microsoft.com/office/drawing/2014/main" val="2601771583"/>
                    </a:ext>
                  </a:extLst>
                </a:gridCol>
                <a:gridCol w="2020983">
                  <a:extLst>
                    <a:ext uri="{9D8B030D-6E8A-4147-A177-3AD203B41FA5}">
                      <a16:colId xmlns:a16="http://schemas.microsoft.com/office/drawing/2014/main" val="4285118018"/>
                    </a:ext>
                  </a:extLst>
                </a:gridCol>
              </a:tblGrid>
              <a:tr h="542675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Fréquence de connexion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Nombre de connexions retenues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838190785"/>
                  </a:ext>
                </a:extLst>
              </a:tr>
              <a:tr h="351802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Moins d’une fois par mois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1 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2487996784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1 à 3 fois par mois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2 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2463447347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1 fois par semaine 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4 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2547466480"/>
                  </a:ext>
                </a:extLst>
              </a:tr>
              <a:tr h="293083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Plusieurs fois par semaine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8 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1615710643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1 fois par jour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30 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3271936835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Plusieurs fois par jour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30 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583718186"/>
                  </a:ext>
                </a:extLst>
              </a:tr>
              <a:tr h="270947"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En continu 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fr-FR" sz="1400" b="0" dirty="0">
                          <a:effectLst/>
                        </a:rPr>
                        <a:t>30 </a:t>
                      </a:r>
                      <a:endParaRPr lang="fr-FR" sz="1400" b="0" i="0" dirty="0">
                        <a:effectLst/>
                      </a:endParaRPr>
                    </a:p>
                  </a:txBody>
                  <a:tcPr marL="90000" marR="90653" marT="45326" marB="45326" anchor="ctr" anchorCtr="1"/>
                </a:tc>
                <a:extLst>
                  <a:ext uri="{0D108BD9-81ED-4DB2-BD59-A6C34878D82A}">
                    <a16:rowId xmlns:a16="http://schemas.microsoft.com/office/drawing/2014/main" val="674051974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30DFF5BE-7830-B509-9124-8C7D6A011B67}"/>
              </a:ext>
            </a:extLst>
          </p:cNvPr>
          <p:cNvSpPr txBox="1"/>
          <p:nvPr/>
        </p:nvSpPr>
        <p:spPr>
          <a:xfrm>
            <a:off x="3025424" y="256239"/>
            <a:ext cx="3968972" cy="52322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I. UTILISATION GÉNÉRALE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2957194-0B6D-E8D6-2D32-0695B2CBB868}"/>
              </a:ext>
            </a:extLst>
          </p:cNvPr>
          <p:cNvSpPr txBox="1"/>
          <p:nvPr/>
        </p:nvSpPr>
        <p:spPr>
          <a:xfrm>
            <a:off x="3402917" y="1229899"/>
            <a:ext cx="541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Mesure du temps passé sur Facebook chaque mois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9A7176-DD05-6A9F-22D8-40729926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7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73623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41B4BAC3-9082-6E9E-E3E8-5778FE712FE0}"/>
              </a:ext>
            </a:extLst>
          </p:cNvPr>
          <p:cNvGrpSpPr/>
          <p:nvPr/>
        </p:nvGrpSpPr>
        <p:grpSpPr>
          <a:xfrm>
            <a:off x="381589" y="178784"/>
            <a:ext cx="11428821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D25362-9458-DE17-075D-D822599919FF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140D83-23C5-05B3-B374-8A674D2E71C5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7" name="Graphique 6" descr="Appareil photo avec un remplissage uni">
              <a:extLst>
                <a:ext uri="{FF2B5EF4-FFF2-40B4-BE49-F238E27FC236}">
                  <a16:creationId xmlns:a16="http://schemas.microsoft.com/office/drawing/2014/main" id="{0A9D0D83-CC8B-8816-8093-EA2A578CB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8" name="Graphique 7" descr="Loupe avec un remplissage uni">
              <a:extLst>
                <a:ext uri="{FF2B5EF4-FFF2-40B4-BE49-F238E27FC236}">
                  <a16:creationId xmlns:a16="http://schemas.microsoft.com/office/drawing/2014/main" id="{6EC31E3D-5910-7316-C17C-F45A37B00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pic>
          <p:nvPicPr>
            <p:cNvPr id="24" name="Graphique 23" descr="Signe pouce en haut avec un remplissage uni">
              <a:extLst>
                <a:ext uri="{FF2B5EF4-FFF2-40B4-BE49-F238E27FC236}">
                  <a16:creationId xmlns:a16="http://schemas.microsoft.com/office/drawing/2014/main" id="{E647D701-736E-936B-D9D3-2E3AC51E6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25" name="Graphique 24" descr="Commentaire, ajouter avec un remplissage uni">
              <a:extLst>
                <a:ext uri="{FF2B5EF4-FFF2-40B4-BE49-F238E27FC236}">
                  <a16:creationId xmlns:a16="http://schemas.microsoft.com/office/drawing/2014/main" id="{C824EACC-D723-CB2B-8F69-EE86D7943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54512DE9-D7A7-DC86-42DA-460C14F11C5E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EC45BFE2-D3F8-E72E-B12C-7802AAA5DBC3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E10FBE91-900D-FE61-F667-1AC488791390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24E08256-11CF-0590-E544-704D40602901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0E82A162-338E-2FB1-0358-16FDBA21A33E}"/>
              </a:ext>
            </a:extLst>
          </p:cNvPr>
          <p:cNvSpPr txBox="1"/>
          <p:nvPr/>
        </p:nvSpPr>
        <p:spPr>
          <a:xfrm>
            <a:off x="960565" y="1233252"/>
            <a:ext cx="669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Temps moyen passé sur Facebook chaque mois en fonction de l’âge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A940B9A-D9F0-2A19-B6BE-8A3881F9286A}"/>
              </a:ext>
            </a:extLst>
          </p:cNvPr>
          <p:cNvSpPr txBox="1"/>
          <p:nvPr/>
        </p:nvSpPr>
        <p:spPr>
          <a:xfrm>
            <a:off x="3025424" y="256239"/>
            <a:ext cx="3968972" cy="52322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I. UTILISATION GÉNÉRALE</a:t>
            </a:r>
          </a:p>
        </p:txBody>
      </p:sp>
      <p:graphicFrame>
        <p:nvGraphicFramePr>
          <p:cNvPr id="13" name="Tableau 13">
            <a:extLst>
              <a:ext uri="{FF2B5EF4-FFF2-40B4-BE49-F238E27FC236}">
                <a16:creationId xmlns:a16="http://schemas.microsoft.com/office/drawing/2014/main" id="{249F9BF2-E23C-816E-EDE8-3D579D679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384835"/>
              </p:ext>
            </p:extLst>
          </p:nvPr>
        </p:nvGraphicFramePr>
        <p:xfrm>
          <a:off x="8004163" y="2781511"/>
          <a:ext cx="3413762" cy="1483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06881">
                  <a:extLst>
                    <a:ext uri="{9D8B030D-6E8A-4147-A177-3AD203B41FA5}">
                      <a16:colId xmlns:a16="http://schemas.microsoft.com/office/drawing/2014/main" val="3923418460"/>
                    </a:ext>
                  </a:extLst>
                </a:gridCol>
                <a:gridCol w="1706881">
                  <a:extLst>
                    <a:ext uri="{9D8B030D-6E8A-4147-A177-3AD203B41FA5}">
                      <a16:colId xmlns:a16="http://schemas.microsoft.com/office/drawing/2014/main" val="623647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/>
                        <a:t>14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32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Médiane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7,5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056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  <a:r>
                        <a:rPr lang="fr-FR" baseline="30000" dirty="0"/>
                        <a:t>er</a:t>
                      </a:r>
                      <a:r>
                        <a:rPr lang="fr-FR" dirty="0"/>
                        <a:t> décile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</a:t>
                      </a:r>
                      <a:r>
                        <a:rPr lang="fr-FR" baseline="30000" dirty="0"/>
                        <a:t>ème</a:t>
                      </a:r>
                      <a:r>
                        <a:rPr lang="fr-FR" dirty="0"/>
                        <a:t> décile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45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468232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3801900-91CA-F0C6-45A8-FA7C9C06FC27}"/>
              </a:ext>
            </a:extLst>
          </p:cNvPr>
          <p:cNvSpPr txBox="1"/>
          <p:nvPr/>
        </p:nvSpPr>
        <p:spPr>
          <a:xfrm>
            <a:off x="8566339" y="2091519"/>
            <a:ext cx="255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Moyenne en 2023 : 16h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47DD895-A61F-320E-55D2-9647C301AF26}"/>
              </a:ext>
            </a:extLst>
          </p:cNvPr>
          <p:cNvGrpSpPr/>
          <p:nvPr/>
        </p:nvGrpSpPr>
        <p:grpSpPr>
          <a:xfrm>
            <a:off x="10770296" y="3650325"/>
            <a:ext cx="1018689" cy="510188"/>
            <a:chOff x="10770296" y="3650325"/>
            <a:chExt cx="1018689" cy="510188"/>
          </a:xfrm>
        </p:grpSpPr>
        <p:sp>
          <p:nvSpPr>
            <p:cNvPr id="11" name="Demi-tour 10">
              <a:extLst>
                <a:ext uri="{FF2B5EF4-FFF2-40B4-BE49-F238E27FC236}">
                  <a16:creationId xmlns:a16="http://schemas.microsoft.com/office/drawing/2014/main" id="{59983ABE-6301-0DEE-6AF6-277B0691BD94}"/>
                </a:ext>
              </a:extLst>
            </p:cNvPr>
            <p:cNvSpPr/>
            <p:nvPr/>
          </p:nvSpPr>
          <p:spPr>
            <a:xfrm rot="5400000">
              <a:off x="10633877" y="3786744"/>
              <a:ext cx="510188" cy="237350"/>
            </a:xfrm>
            <a:prstGeom prst="utur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DFFCBDA2-75DE-BF40-41C6-5BACCD38D0DF}"/>
                </a:ext>
              </a:extLst>
            </p:cNvPr>
            <p:cNvSpPr txBox="1"/>
            <p:nvPr/>
          </p:nvSpPr>
          <p:spPr>
            <a:xfrm>
              <a:off x="11046864" y="3678028"/>
              <a:ext cx="7421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x 22</a:t>
              </a:r>
            </a:p>
          </p:txBody>
        </p:sp>
      </p:grp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BB23E1CF-FAF0-24B0-3E6E-73216B8654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" t="1457" r="3059" b="13042"/>
          <a:stretch/>
        </p:blipFill>
        <p:spPr bwMode="auto">
          <a:xfrm>
            <a:off x="1332411" y="1867989"/>
            <a:ext cx="6261474" cy="341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Espace réservé du numéro de diapositive 1">
            <a:extLst>
              <a:ext uri="{FF2B5EF4-FFF2-40B4-BE49-F238E27FC236}">
                <a16:creationId xmlns:a16="http://schemas.microsoft.com/office/drawing/2014/main" id="{88B831C6-2E66-E873-6044-9257123D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8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40751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4D4A2AF3-ACD1-03D5-DF0B-2CF3F2BAD90B}"/>
              </a:ext>
            </a:extLst>
          </p:cNvPr>
          <p:cNvGrpSpPr/>
          <p:nvPr/>
        </p:nvGrpSpPr>
        <p:grpSpPr>
          <a:xfrm>
            <a:off x="395748" y="136525"/>
            <a:ext cx="11428821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5C8DC9B-0B1A-2ABE-702C-F458B201F168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7B00FFF-C5EC-72DB-E13C-EED7C4DA77C6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32" name="Graphique 31" descr="Appareil photo avec un remplissage uni">
              <a:extLst>
                <a:ext uri="{FF2B5EF4-FFF2-40B4-BE49-F238E27FC236}">
                  <a16:creationId xmlns:a16="http://schemas.microsoft.com/office/drawing/2014/main" id="{19222C24-2B1A-B02B-E16A-0ADE3FEFD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33" name="Graphique 32" descr="Loupe avec un remplissage uni">
              <a:extLst>
                <a:ext uri="{FF2B5EF4-FFF2-40B4-BE49-F238E27FC236}">
                  <a16:creationId xmlns:a16="http://schemas.microsoft.com/office/drawing/2014/main" id="{AA68C720-528D-D4F1-01DB-14A0428C3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pic>
          <p:nvPicPr>
            <p:cNvPr id="34" name="Graphique 33" descr="Signe pouce en haut avec un remplissage uni">
              <a:extLst>
                <a:ext uri="{FF2B5EF4-FFF2-40B4-BE49-F238E27FC236}">
                  <a16:creationId xmlns:a16="http://schemas.microsoft.com/office/drawing/2014/main" id="{00385FE2-0911-7625-CD7B-024EA2B13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35" name="Graphique 34" descr="Commentaire, ajouter avec un remplissage uni">
              <a:extLst>
                <a:ext uri="{FF2B5EF4-FFF2-40B4-BE49-F238E27FC236}">
                  <a16:creationId xmlns:a16="http://schemas.microsoft.com/office/drawing/2014/main" id="{4B673AAF-9245-F8B1-C56F-DC8779C46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29EC0D2E-005C-5AF8-396A-F020C405CD18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5EE5F06B-EBE1-EEC3-32E8-3DCAC48E3D25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845CF39B-9DE5-33CB-6017-FFD4607AEF44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34EA9707-D8C9-E937-3681-2963BE6E174A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61BABA12-0F03-1505-3AEF-8F7E8DFF0952}"/>
              </a:ext>
            </a:extLst>
          </p:cNvPr>
          <p:cNvSpPr txBox="1"/>
          <p:nvPr/>
        </p:nvSpPr>
        <p:spPr>
          <a:xfrm>
            <a:off x="3025424" y="256239"/>
            <a:ext cx="3968972" cy="52322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I. UTILISATION GÉNÉRALE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1E519D8-6399-3E05-8D9B-9046A34CE9D6}"/>
              </a:ext>
            </a:extLst>
          </p:cNvPr>
          <p:cNvSpPr txBox="1"/>
          <p:nvPr/>
        </p:nvSpPr>
        <p:spPr>
          <a:xfrm>
            <a:off x="1808181" y="985216"/>
            <a:ext cx="8174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24099EF-4D8B-54C4-149D-C8CAE1B9B10D}"/>
              </a:ext>
            </a:extLst>
          </p:cNvPr>
          <p:cNvSpPr txBox="1"/>
          <p:nvPr/>
        </p:nvSpPr>
        <p:spPr>
          <a:xfrm>
            <a:off x="2153297" y="1290244"/>
            <a:ext cx="483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de la messagerie en fonction de l’âge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1D7DDE8F-C251-CFD3-30D2-6AE65344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074" y="1701127"/>
            <a:ext cx="6818089" cy="409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490BE0D-F94F-8D90-6BC7-6B79879DDD4F}"/>
              </a:ext>
            </a:extLst>
          </p:cNvPr>
          <p:cNvSpPr txBox="1"/>
          <p:nvPr/>
        </p:nvSpPr>
        <p:spPr>
          <a:xfrm>
            <a:off x="8601739" y="2873124"/>
            <a:ext cx="2307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15-24 ans utilisent </a:t>
            </a:r>
            <a:r>
              <a:rPr lang="fr-FR" b="1" dirty="0"/>
              <a:t>85%</a:t>
            </a:r>
            <a:r>
              <a:rPr lang="fr-FR" dirty="0"/>
              <a:t> de plus la messagerie que les 50 ans et plus</a:t>
            </a:r>
          </a:p>
        </p:txBody>
      </p:sp>
      <p:sp>
        <p:nvSpPr>
          <p:cNvPr id="5" name="Espace réservé du numéro de diapositive 1">
            <a:extLst>
              <a:ext uri="{FF2B5EF4-FFF2-40B4-BE49-F238E27FC236}">
                <a16:creationId xmlns:a16="http://schemas.microsoft.com/office/drawing/2014/main" id="{34EB1BF7-E98E-ABC8-C699-14CB4193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9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63715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6010C59-E3BC-68A8-3F21-325032C8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10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DE30CDE-B256-CE9B-155B-1E7097799546}"/>
              </a:ext>
            </a:extLst>
          </p:cNvPr>
          <p:cNvGrpSpPr/>
          <p:nvPr/>
        </p:nvGrpSpPr>
        <p:grpSpPr>
          <a:xfrm>
            <a:off x="395748" y="136525"/>
            <a:ext cx="11428821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10A773C-32D8-08AC-5EF3-8CB40DDEDE96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8786C9-0A50-61A9-8EAD-D4B76E8BC155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endParaRPr lang="fr-FR" dirty="0"/>
            </a:p>
          </p:txBody>
        </p:sp>
        <p:pic>
          <p:nvPicPr>
            <p:cNvPr id="6" name="Graphique 5" descr="Appareil photo avec un remplissage uni">
              <a:extLst>
                <a:ext uri="{FF2B5EF4-FFF2-40B4-BE49-F238E27FC236}">
                  <a16:creationId xmlns:a16="http://schemas.microsoft.com/office/drawing/2014/main" id="{B328A374-842E-5516-B5AA-0C6B22F0F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7" name="Graphique 6" descr="Loupe avec un remplissage uni">
              <a:extLst>
                <a:ext uri="{FF2B5EF4-FFF2-40B4-BE49-F238E27FC236}">
                  <a16:creationId xmlns:a16="http://schemas.microsoft.com/office/drawing/2014/main" id="{0C969648-FFF9-DE55-1F3D-1EB22F364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pic>
          <p:nvPicPr>
            <p:cNvPr id="8" name="Graphique 7" descr="Signe pouce en haut avec un remplissage uni">
              <a:extLst>
                <a:ext uri="{FF2B5EF4-FFF2-40B4-BE49-F238E27FC236}">
                  <a16:creationId xmlns:a16="http://schemas.microsoft.com/office/drawing/2014/main" id="{F03C5B22-9957-3DD4-4A03-82C295531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9" name="Graphique 8" descr="Commentaire, ajouter avec un remplissage uni">
              <a:extLst>
                <a:ext uri="{FF2B5EF4-FFF2-40B4-BE49-F238E27FC236}">
                  <a16:creationId xmlns:a16="http://schemas.microsoft.com/office/drawing/2014/main" id="{11523B8B-23BC-612D-8DB0-CC71D9919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8AD333FF-CBA7-4B07-1E21-EE398E6BAD3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41AD3280-AEEF-4A84-BE82-60082844CB8F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726DB66-42F0-002F-4A8A-1E6F587FDA60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lIns="90000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666DEA27-7680-12B8-1371-3D584173ACA6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lIns="90000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0152FBE-B5E4-D672-425C-A21611F81E56}"/>
              </a:ext>
            </a:extLst>
          </p:cNvPr>
          <p:cNvSpPr txBox="1"/>
          <p:nvPr/>
        </p:nvSpPr>
        <p:spPr>
          <a:xfrm>
            <a:off x="3025424" y="256239"/>
            <a:ext cx="3968972" cy="52322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I. UTILISATION GÉNÉRALE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1568F6B-B18F-6541-A927-71E59B1C1162}"/>
              </a:ext>
            </a:extLst>
          </p:cNvPr>
          <p:cNvSpPr txBox="1"/>
          <p:nvPr/>
        </p:nvSpPr>
        <p:spPr>
          <a:xfrm>
            <a:off x="2858515" y="4856213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Utilisation plus importante du réseau par les utilisateurs âgés de 15-24 ans</a:t>
            </a:r>
          </a:p>
        </p:txBody>
      </p:sp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D2FCC120-E893-E1B7-7E6C-67F3F9F1E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49361"/>
              </p:ext>
            </p:extLst>
          </p:nvPr>
        </p:nvGraphicFramePr>
        <p:xfrm>
          <a:off x="2858515" y="1818464"/>
          <a:ext cx="5976667" cy="2087025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849848">
                  <a:extLst>
                    <a:ext uri="{9D8B030D-6E8A-4147-A177-3AD203B41FA5}">
                      <a16:colId xmlns:a16="http://schemas.microsoft.com/office/drawing/2014/main" val="3804246395"/>
                    </a:ext>
                  </a:extLst>
                </a:gridCol>
                <a:gridCol w="2126819">
                  <a:extLst>
                    <a:ext uri="{9D8B030D-6E8A-4147-A177-3AD203B41FA5}">
                      <a16:colId xmlns:a16="http://schemas.microsoft.com/office/drawing/2014/main" val="1311799629"/>
                    </a:ext>
                  </a:extLst>
                </a:gridCol>
              </a:tblGrid>
              <a:tr h="41740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Adhésion à un groupe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+ 145%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extLst>
                  <a:ext uri="{0D108BD9-81ED-4DB2-BD59-A6C34878D82A}">
                    <a16:rowId xmlns:a16="http://schemas.microsoft.com/office/drawing/2014/main" val="1153312447"/>
                  </a:ext>
                </a:extLst>
              </a:tr>
              <a:tr h="41740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Utilisation de la messagerie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+ 85%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extLst>
                  <a:ext uri="{0D108BD9-81ED-4DB2-BD59-A6C34878D82A}">
                    <a16:rowId xmlns:a16="http://schemas.microsoft.com/office/drawing/2014/main" val="2045089568"/>
                  </a:ext>
                </a:extLst>
              </a:tr>
              <a:tr h="41740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S'informer sur l'actualité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+ 75%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extLst>
                  <a:ext uri="{0D108BD9-81ED-4DB2-BD59-A6C34878D82A}">
                    <a16:rowId xmlns:a16="http://schemas.microsoft.com/office/drawing/2014/main" val="2995000055"/>
                  </a:ext>
                </a:extLst>
              </a:tr>
              <a:tr h="41740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Jouer à des jeux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+ 38%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extLst>
                  <a:ext uri="{0D108BD9-81ED-4DB2-BD59-A6C34878D82A}">
                    <a16:rowId xmlns:a16="http://schemas.microsoft.com/office/drawing/2014/main" val="1030050817"/>
                  </a:ext>
                </a:extLst>
              </a:tr>
              <a:tr h="417405"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Au moins une photo publiée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800" u="none" strike="noStrike" dirty="0">
                          <a:effectLst/>
                        </a:rPr>
                        <a:t>+ 37%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/>
                </a:tc>
                <a:extLst>
                  <a:ext uri="{0D108BD9-81ED-4DB2-BD59-A6C34878D82A}">
                    <a16:rowId xmlns:a16="http://schemas.microsoft.com/office/drawing/2014/main" val="3089876587"/>
                  </a:ext>
                </a:extLst>
              </a:tr>
            </a:tbl>
          </a:graphicData>
        </a:graphic>
      </p:graphicFrame>
      <p:sp>
        <p:nvSpPr>
          <p:cNvPr id="22" name="ZoneTexte 21">
            <a:extLst>
              <a:ext uri="{FF2B5EF4-FFF2-40B4-BE49-F238E27FC236}">
                <a16:creationId xmlns:a16="http://schemas.microsoft.com/office/drawing/2014/main" id="{E612D322-7C65-BB0C-8A84-FB8312EEF005}"/>
              </a:ext>
            </a:extLst>
          </p:cNvPr>
          <p:cNvSpPr txBox="1"/>
          <p:nvPr/>
        </p:nvSpPr>
        <p:spPr>
          <a:xfrm>
            <a:off x="2254404" y="1413476"/>
            <a:ext cx="718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Supplément d’utilisation pour les 15-24 ans par rapport aux 50 ans et plus    </a:t>
            </a:r>
          </a:p>
        </p:txBody>
      </p:sp>
      <p:sp>
        <p:nvSpPr>
          <p:cNvPr id="24" name="Espace réservé du numéro de diapositive 1">
            <a:extLst>
              <a:ext uri="{FF2B5EF4-FFF2-40B4-BE49-F238E27FC236}">
                <a16:creationId xmlns:a16="http://schemas.microsoft.com/office/drawing/2014/main" id="{0C8F9AD5-3078-460D-15FC-F5A816730DCE}"/>
              </a:ext>
            </a:extLst>
          </p:cNvPr>
          <p:cNvSpPr txBox="1">
            <a:spLocks/>
          </p:cNvSpPr>
          <p:nvPr/>
        </p:nvSpPr>
        <p:spPr>
          <a:xfrm>
            <a:off x="9494388" y="646389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A65A16-1EE7-D449-A5C6-16E02F6016E5}" type="slidenum">
              <a:rPr lang="fr-FR" sz="1800" smtClean="0"/>
              <a:pPr/>
              <a:t>10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289870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96A4D9D-F9A3-AD87-ED62-76A41595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11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5DBC67A-B235-244D-086A-AB5A1A88B9AD}"/>
              </a:ext>
            </a:extLst>
          </p:cNvPr>
          <p:cNvGrpSpPr/>
          <p:nvPr/>
        </p:nvGrpSpPr>
        <p:grpSpPr>
          <a:xfrm>
            <a:off x="395748" y="136525"/>
            <a:ext cx="11428821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551DE1-1172-0850-6110-3A62D4684DDF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E23F88-5F02-0917-69B3-B641C05A4571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" name="Graphique 5" descr="Appareil photo avec un remplissage uni">
              <a:extLst>
                <a:ext uri="{FF2B5EF4-FFF2-40B4-BE49-F238E27FC236}">
                  <a16:creationId xmlns:a16="http://schemas.microsoft.com/office/drawing/2014/main" id="{D9A72C2E-6653-1DD3-EFBE-77763EA16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7" name="Graphique 6" descr="Loupe avec un remplissage uni">
              <a:extLst>
                <a:ext uri="{FF2B5EF4-FFF2-40B4-BE49-F238E27FC236}">
                  <a16:creationId xmlns:a16="http://schemas.microsoft.com/office/drawing/2014/main" id="{272DA1CE-A8A3-B228-C315-4CA67B1F4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pic>
          <p:nvPicPr>
            <p:cNvPr id="8" name="Graphique 7" descr="Signe pouce en haut avec un remplissage uni">
              <a:extLst>
                <a:ext uri="{FF2B5EF4-FFF2-40B4-BE49-F238E27FC236}">
                  <a16:creationId xmlns:a16="http://schemas.microsoft.com/office/drawing/2014/main" id="{347E82DD-7263-4E70-EDD4-1DBBC276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9" name="Graphique 8" descr="Commentaire, ajouter avec un remplissage uni">
              <a:extLst>
                <a:ext uri="{FF2B5EF4-FFF2-40B4-BE49-F238E27FC236}">
                  <a16:creationId xmlns:a16="http://schemas.microsoft.com/office/drawing/2014/main" id="{3C2F7BDB-3867-8C04-EC5D-CC10AFC18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D5569D6E-596A-31AE-4B34-4755D7F309F5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F4EDA55F-4688-C286-A553-E6144844098C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C580DF3-A077-9D07-CBB3-EA06BC007A5B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70BFC99-9ED2-CDD0-CE5E-572C52B47015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07C0BFF-4239-D91F-D8F8-C16830F98C03}"/>
              </a:ext>
            </a:extLst>
          </p:cNvPr>
          <p:cNvSpPr txBox="1"/>
          <p:nvPr/>
        </p:nvSpPr>
        <p:spPr>
          <a:xfrm>
            <a:off x="3025424" y="256239"/>
            <a:ext cx="3968972" cy="52322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I. UTILISATION GÉNÉRALE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43A67EB1-71BB-AB08-43D3-76743F98094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2181" t="2688" r="19311" b="5588"/>
          <a:stretch/>
        </p:blipFill>
        <p:spPr>
          <a:xfrm>
            <a:off x="2338250" y="1632857"/>
            <a:ext cx="6466115" cy="400872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A017A705-36E5-B882-3BB2-F1F0DC92C316}"/>
              </a:ext>
            </a:extLst>
          </p:cNvPr>
          <p:cNvSpPr txBox="1"/>
          <p:nvPr/>
        </p:nvSpPr>
        <p:spPr>
          <a:xfrm>
            <a:off x="1590838" y="1103802"/>
            <a:ext cx="9010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Proportion des utilisateurs </a:t>
            </a:r>
            <a:r>
              <a:rPr lang="fr-FR" u="sng" dirty="0"/>
              <a:t>n’utilisant pas </a:t>
            </a:r>
            <a:r>
              <a:rPr lang="fr-FR" dirty="0"/>
              <a:t>le réseau social pour garder contact en fonction de l’âge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50B7382-16D3-0C4C-394B-215986633781}"/>
              </a:ext>
            </a:extLst>
          </p:cNvPr>
          <p:cNvSpPr txBox="1"/>
          <p:nvPr/>
        </p:nvSpPr>
        <p:spPr>
          <a:xfrm>
            <a:off x="9081516" y="2874250"/>
            <a:ext cx="1519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Dont 30% des 62 ans et plus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2D2D514-A539-8F0E-1AFC-687398A0A09A}"/>
              </a:ext>
            </a:extLst>
          </p:cNvPr>
          <p:cNvCxnSpPr/>
          <p:nvPr/>
        </p:nvCxnSpPr>
        <p:spPr>
          <a:xfrm flipV="1">
            <a:off x="8203207" y="3271051"/>
            <a:ext cx="784039" cy="686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space réservé du numéro de diapositive 1">
            <a:extLst>
              <a:ext uri="{FF2B5EF4-FFF2-40B4-BE49-F238E27FC236}">
                <a16:creationId xmlns:a16="http://schemas.microsoft.com/office/drawing/2014/main" id="{8C3C0715-81E1-36A6-FD88-CBA58383E5F5}"/>
              </a:ext>
            </a:extLst>
          </p:cNvPr>
          <p:cNvSpPr txBox="1">
            <a:spLocks/>
          </p:cNvSpPr>
          <p:nvPr/>
        </p:nvSpPr>
        <p:spPr>
          <a:xfrm>
            <a:off x="9473127" y="64543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A65A16-1EE7-D449-A5C6-16E02F6016E5}" type="slidenum">
              <a:rPr lang="fr-FR" sz="1800" smtClean="0"/>
              <a:pPr/>
              <a:t>11</a:t>
            </a:fld>
            <a:endParaRPr lang="fr-FR" sz="18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5BA32F3-5CF7-1ADC-215E-434B9F1CD2D3}"/>
              </a:ext>
            </a:extLst>
          </p:cNvPr>
          <p:cNvSpPr txBox="1"/>
          <p:nvPr/>
        </p:nvSpPr>
        <p:spPr>
          <a:xfrm rot="16200000">
            <a:off x="1110696" y="2795490"/>
            <a:ext cx="214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626262"/>
                </a:solidFill>
              </a:rPr>
              <a:t>Fréquence</a:t>
            </a:r>
          </a:p>
        </p:txBody>
      </p:sp>
    </p:spTree>
    <p:extLst>
      <p:ext uri="{BB962C8B-B14F-4D97-AF65-F5344CB8AC3E}">
        <p14:creationId xmlns:p14="http://schemas.microsoft.com/office/powerpoint/2010/main" val="559592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96A4D9D-F9A3-AD87-ED62-76A41595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12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5DBC67A-B235-244D-086A-AB5A1A88B9AD}"/>
              </a:ext>
            </a:extLst>
          </p:cNvPr>
          <p:cNvGrpSpPr/>
          <p:nvPr/>
        </p:nvGrpSpPr>
        <p:grpSpPr>
          <a:xfrm>
            <a:off x="395748" y="136525"/>
            <a:ext cx="11428821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551DE1-1172-0850-6110-3A62D4684DDF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E23F88-5F02-0917-69B3-B641C05A4571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" name="Graphique 5" descr="Appareil photo avec un remplissage uni">
              <a:extLst>
                <a:ext uri="{FF2B5EF4-FFF2-40B4-BE49-F238E27FC236}">
                  <a16:creationId xmlns:a16="http://schemas.microsoft.com/office/drawing/2014/main" id="{D9A72C2E-6653-1DD3-EFBE-77763EA16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7" name="Graphique 6" descr="Loupe avec un remplissage uni">
              <a:extLst>
                <a:ext uri="{FF2B5EF4-FFF2-40B4-BE49-F238E27FC236}">
                  <a16:creationId xmlns:a16="http://schemas.microsoft.com/office/drawing/2014/main" id="{272DA1CE-A8A3-B228-C315-4CA67B1F4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pic>
          <p:nvPicPr>
            <p:cNvPr id="8" name="Graphique 7" descr="Signe pouce en haut avec un remplissage uni">
              <a:extLst>
                <a:ext uri="{FF2B5EF4-FFF2-40B4-BE49-F238E27FC236}">
                  <a16:creationId xmlns:a16="http://schemas.microsoft.com/office/drawing/2014/main" id="{347E82DD-7263-4E70-EDD4-1DBBC276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9" name="Graphique 8" descr="Commentaire, ajouter avec un remplissage uni">
              <a:extLst>
                <a:ext uri="{FF2B5EF4-FFF2-40B4-BE49-F238E27FC236}">
                  <a16:creationId xmlns:a16="http://schemas.microsoft.com/office/drawing/2014/main" id="{3C2F7BDB-3867-8C04-EC5D-CC10AFC18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D5569D6E-596A-31AE-4B34-4755D7F309F5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F4EDA55F-4688-C286-A553-E6144844098C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C580DF3-A077-9D07-CBB3-EA06BC007A5B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70BFC99-9ED2-CDD0-CE5E-572C52B47015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07C0BFF-4239-D91F-D8F8-C16830F98C03}"/>
              </a:ext>
            </a:extLst>
          </p:cNvPr>
          <p:cNvSpPr txBox="1"/>
          <p:nvPr/>
        </p:nvSpPr>
        <p:spPr>
          <a:xfrm>
            <a:off x="3025424" y="256239"/>
            <a:ext cx="3968972" cy="52322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I. UTILISATION GÉNÉRALE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D4839C0-460B-540B-53AD-92776F697D3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7820" t="2332" r="20067" b="3345"/>
          <a:stretch/>
        </p:blipFill>
        <p:spPr>
          <a:xfrm>
            <a:off x="1948069" y="1606731"/>
            <a:ext cx="7091427" cy="393280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60016F13-1EAF-8051-A31B-B57FE0665E4B}"/>
              </a:ext>
            </a:extLst>
          </p:cNvPr>
          <p:cNvSpPr txBox="1"/>
          <p:nvPr/>
        </p:nvSpPr>
        <p:spPr>
          <a:xfrm>
            <a:off x="2682001" y="986098"/>
            <a:ext cx="7002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Proportion des utilisateurs ayant moins de 20 amis en fonction de l’âge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0B3CBE3-C419-6054-C052-28350050F88D}"/>
              </a:ext>
            </a:extLst>
          </p:cNvPr>
          <p:cNvSpPr txBox="1"/>
          <p:nvPr/>
        </p:nvSpPr>
        <p:spPr>
          <a:xfrm>
            <a:off x="9081516" y="2874250"/>
            <a:ext cx="1519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Dont 54% des 62 ans et plus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E17E67E-4E27-B471-EED7-349B58A18926}"/>
              </a:ext>
            </a:extLst>
          </p:cNvPr>
          <p:cNvCxnSpPr/>
          <p:nvPr/>
        </p:nvCxnSpPr>
        <p:spPr>
          <a:xfrm flipV="1">
            <a:off x="8203207" y="3271051"/>
            <a:ext cx="784039" cy="686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numéro de diapositive 1">
            <a:extLst>
              <a:ext uri="{FF2B5EF4-FFF2-40B4-BE49-F238E27FC236}">
                <a16:creationId xmlns:a16="http://schemas.microsoft.com/office/drawing/2014/main" id="{FF0EF271-95E1-A76B-29CD-40DF7AAA95AA}"/>
              </a:ext>
            </a:extLst>
          </p:cNvPr>
          <p:cNvSpPr txBox="1">
            <a:spLocks/>
          </p:cNvSpPr>
          <p:nvPr/>
        </p:nvSpPr>
        <p:spPr>
          <a:xfrm>
            <a:off x="9473127" y="64543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A65A16-1EE7-D449-A5C6-16E02F6016E5}" type="slidenum">
              <a:rPr lang="fr-FR" sz="1800" smtClean="0"/>
              <a:pPr/>
              <a:t>12</a:t>
            </a:fld>
            <a:endParaRPr lang="fr-FR" sz="1800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1128EDF-FA96-0A57-4ACF-5ED461B7519A}"/>
              </a:ext>
            </a:extLst>
          </p:cNvPr>
          <p:cNvSpPr txBox="1"/>
          <p:nvPr/>
        </p:nvSpPr>
        <p:spPr>
          <a:xfrm rot="16200000">
            <a:off x="574750" y="2700294"/>
            <a:ext cx="214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626262"/>
                </a:solidFill>
              </a:rPr>
              <a:t>Fréquence</a:t>
            </a:r>
          </a:p>
        </p:txBody>
      </p:sp>
    </p:spTree>
    <p:extLst>
      <p:ext uri="{BB962C8B-B14F-4D97-AF65-F5344CB8AC3E}">
        <p14:creationId xmlns:p14="http://schemas.microsoft.com/office/powerpoint/2010/main" val="3972762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96A4D9D-F9A3-AD87-ED62-76A41595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65A16-1EE7-D449-A5C6-16E02F6016E5}" type="slidenum">
              <a:rPr lang="fr-FR" smtClean="0"/>
              <a:t>13</a:t>
            </a:fld>
            <a:endParaRPr lang="fr-FR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A5DBC67A-B235-244D-086A-AB5A1A88B9AD}"/>
              </a:ext>
            </a:extLst>
          </p:cNvPr>
          <p:cNvGrpSpPr/>
          <p:nvPr/>
        </p:nvGrpSpPr>
        <p:grpSpPr>
          <a:xfrm>
            <a:off x="395748" y="136525"/>
            <a:ext cx="11428821" cy="6500432"/>
            <a:chOff x="-1549365" y="338328"/>
            <a:chExt cx="1067061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551DE1-1172-0850-6110-3A62D4684DDF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E23F88-5F02-0917-69B3-B641C05A4571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" name="Graphique 5" descr="Appareil photo avec un remplissage uni">
              <a:extLst>
                <a:ext uri="{FF2B5EF4-FFF2-40B4-BE49-F238E27FC236}">
                  <a16:creationId xmlns:a16="http://schemas.microsoft.com/office/drawing/2014/main" id="{D9A72C2E-6653-1DD3-EFBE-77763EA16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7" name="Graphique 6" descr="Loupe avec un remplissage uni">
              <a:extLst>
                <a:ext uri="{FF2B5EF4-FFF2-40B4-BE49-F238E27FC236}">
                  <a16:creationId xmlns:a16="http://schemas.microsoft.com/office/drawing/2014/main" id="{272DA1CE-A8A3-B228-C315-4CA67B1F4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pic>
          <p:nvPicPr>
            <p:cNvPr id="8" name="Graphique 7" descr="Signe pouce en haut avec un remplissage uni">
              <a:extLst>
                <a:ext uri="{FF2B5EF4-FFF2-40B4-BE49-F238E27FC236}">
                  <a16:creationId xmlns:a16="http://schemas.microsoft.com/office/drawing/2014/main" id="{347E82DD-7263-4E70-EDD4-1DBBC276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9" name="Graphique 8" descr="Commentaire, ajouter avec un remplissage uni">
              <a:extLst>
                <a:ext uri="{FF2B5EF4-FFF2-40B4-BE49-F238E27FC236}">
                  <a16:creationId xmlns:a16="http://schemas.microsoft.com/office/drawing/2014/main" id="{3C2F7BDB-3867-8C04-EC5D-CC10AFC18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D5569D6E-596A-31AE-4B34-4755D7F309F5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F4EDA55F-4688-C286-A553-E6144844098C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C580DF3-A077-9D07-CBB3-EA06BC007A5B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70BFC99-9ED2-CDD0-CE5E-572C52B47015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407C0BFF-4239-D91F-D8F8-C16830F98C03}"/>
              </a:ext>
            </a:extLst>
          </p:cNvPr>
          <p:cNvSpPr txBox="1"/>
          <p:nvPr/>
        </p:nvSpPr>
        <p:spPr>
          <a:xfrm>
            <a:off x="3025424" y="256239"/>
            <a:ext cx="3968972" cy="52322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I. UTILISATION GÉNÉRALE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8D425F0-A698-D7A6-DC9B-95084C83498B}"/>
              </a:ext>
            </a:extLst>
          </p:cNvPr>
          <p:cNvSpPr txBox="1"/>
          <p:nvPr/>
        </p:nvSpPr>
        <p:spPr>
          <a:xfrm>
            <a:off x="3274007" y="1472377"/>
            <a:ext cx="222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15-24 ans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C39062B-9314-0743-D018-0F3439BE8946}"/>
              </a:ext>
            </a:extLst>
          </p:cNvPr>
          <p:cNvSpPr txBox="1"/>
          <p:nvPr/>
        </p:nvSpPr>
        <p:spPr>
          <a:xfrm>
            <a:off x="3338085" y="3632055"/>
            <a:ext cx="222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50 ans et plus</a:t>
            </a:r>
          </a:p>
        </p:txBody>
      </p: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AC19D4B3-699F-0CC2-CE02-EC3D5B974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050778"/>
              </p:ext>
            </p:extLst>
          </p:nvPr>
        </p:nvGraphicFramePr>
        <p:xfrm>
          <a:off x="2664291" y="1936281"/>
          <a:ext cx="6819468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4490">
                  <a:extLst>
                    <a:ext uri="{9D8B030D-6E8A-4147-A177-3AD203B41FA5}">
                      <a16:colId xmlns:a16="http://schemas.microsoft.com/office/drawing/2014/main" val="1502409719"/>
                    </a:ext>
                  </a:extLst>
                </a:gridCol>
                <a:gridCol w="2002517">
                  <a:extLst>
                    <a:ext uri="{9D8B030D-6E8A-4147-A177-3AD203B41FA5}">
                      <a16:colId xmlns:a16="http://schemas.microsoft.com/office/drawing/2014/main" val="1527442773"/>
                    </a:ext>
                  </a:extLst>
                </a:gridCol>
                <a:gridCol w="1876803">
                  <a:extLst>
                    <a:ext uri="{9D8B030D-6E8A-4147-A177-3AD203B41FA5}">
                      <a16:colId xmlns:a16="http://schemas.microsoft.com/office/drawing/2014/main" val="4141752911"/>
                    </a:ext>
                  </a:extLst>
                </a:gridCol>
                <a:gridCol w="1235658">
                  <a:extLst>
                    <a:ext uri="{9D8B030D-6E8A-4147-A177-3AD203B41FA5}">
                      <a16:colId xmlns:a16="http://schemas.microsoft.com/office/drawing/2014/main" val="2997080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 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Oui, Impact positif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 (Corps)"/>
                        </a:rPr>
                        <a:t>Non, Impact négatif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>
                          <a:effectLst/>
                        </a:rPr>
                        <a:t>Total général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2112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Vous voyez plus souvent vos amis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kern="100" dirty="0">
                          <a:effectLst/>
                        </a:rPr>
                        <a:t>69%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31%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>
                          <a:effectLst/>
                        </a:rPr>
                        <a:t>100%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8847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>
                          <a:effectLst/>
                        </a:rPr>
                        <a:t>Vous sortez plus souvent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kern="100" dirty="0">
                          <a:effectLst/>
                        </a:rPr>
                        <a:t>76%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24%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100%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3263826"/>
                  </a:ext>
                </a:extLst>
              </a:tr>
            </a:tbl>
          </a:graphicData>
        </a:graphic>
      </p:graphicFrame>
      <p:graphicFrame>
        <p:nvGraphicFramePr>
          <p:cNvPr id="20" name="Tableau 19">
            <a:extLst>
              <a:ext uri="{FF2B5EF4-FFF2-40B4-BE49-F238E27FC236}">
                <a16:creationId xmlns:a16="http://schemas.microsoft.com/office/drawing/2014/main" id="{A0F99D49-8A5E-8A41-A1C6-EDD38FE5A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830971"/>
              </p:ext>
            </p:extLst>
          </p:nvPr>
        </p:nvGraphicFramePr>
        <p:xfrm>
          <a:off x="2664290" y="3946691"/>
          <a:ext cx="6819467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4490">
                  <a:extLst>
                    <a:ext uri="{9D8B030D-6E8A-4147-A177-3AD203B41FA5}">
                      <a16:colId xmlns:a16="http://schemas.microsoft.com/office/drawing/2014/main" val="1620798123"/>
                    </a:ext>
                  </a:extLst>
                </a:gridCol>
                <a:gridCol w="1987953">
                  <a:extLst>
                    <a:ext uri="{9D8B030D-6E8A-4147-A177-3AD203B41FA5}">
                      <a16:colId xmlns:a16="http://schemas.microsoft.com/office/drawing/2014/main" val="103278507"/>
                    </a:ext>
                  </a:extLst>
                </a:gridCol>
                <a:gridCol w="1872867">
                  <a:extLst>
                    <a:ext uri="{9D8B030D-6E8A-4147-A177-3AD203B41FA5}">
                      <a16:colId xmlns:a16="http://schemas.microsoft.com/office/drawing/2014/main" val="2264993428"/>
                    </a:ext>
                  </a:extLst>
                </a:gridCol>
                <a:gridCol w="1254157">
                  <a:extLst>
                    <a:ext uri="{9D8B030D-6E8A-4147-A177-3AD203B41FA5}">
                      <a16:colId xmlns:a16="http://schemas.microsoft.com/office/drawing/2014/main" val="2276234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 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Oui, Impact positif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Non, Impact négatif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>
                          <a:effectLst/>
                        </a:rPr>
                        <a:t>Total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4055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Vous voyez plus souvent vos amis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37%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kern="100" dirty="0">
                          <a:effectLst/>
                        </a:rPr>
                        <a:t>63%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>
                          <a:effectLst/>
                        </a:rPr>
                        <a:t>100%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8987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>
                          <a:effectLst/>
                        </a:rPr>
                        <a:t>Vous sortez plus souvent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>
                          <a:effectLst/>
                        </a:rPr>
                        <a:t>13%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kern="100" dirty="0">
                          <a:effectLst/>
                        </a:rPr>
                        <a:t>87%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kern="100" dirty="0">
                          <a:effectLst/>
                        </a:rPr>
                        <a:t>100%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9161033"/>
                  </a:ext>
                </a:extLst>
              </a:tr>
            </a:tbl>
          </a:graphicData>
        </a:graphic>
      </p:graphicFrame>
      <p:sp>
        <p:nvSpPr>
          <p:cNvPr id="21" name="ZoneTexte 20">
            <a:extLst>
              <a:ext uri="{FF2B5EF4-FFF2-40B4-BE49-F238E27FC236}">
                <a16:creationId xmlns:a16="http://schemas.microsoft.com/office/drawing/2014/main" id="{19DC9F86-FD85-B1CC-0579-B43F74C95249}"/>
              </a:ext>
            </a:extLst>
          </p:cNvPr>
          <p:cNvSpPr txBox="1"/>
          <p:nvPr/>
        </p:nvSpPr>
        <p:spPr>
          <a:xfrm>
            <a:off x="4131102" y="1077617"/>
            <a:ext cx="439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Impact de Facebook sur les relations sociales </a:t>
            </a:r>
          </a:p>
        </p:txBody>
      </p:sp>
      <p:sp>
        <p:nvSpPr>
          <p:cNvPr id="15" name="Espace réservé du numéro de diapositive 1">
            <a:extLst>
              <a:ext uri="{FF2B5EF4-FFF2-40B4-BE49-F238E27FC236}">
                <a16:creationId xmlns:a16="http://schemas.microsoft.com/office/drawing/2014/main" id="{543FBFE9-B5DD-D6D2-2F28-3DDA0165EE3F}"/>
              </a:ext>
            </a:extLst>
          </p:cNvPr>
          <p:cNvSpPr txBox="1">
            <a:spLocks/>
          </p:cNvSpPr>
          <p:nvPr/>
        </p:nvSpPr>
        <p:spPr>
          <a:xfrm>
            <a:off x="9483759" y="64543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A65A16-1EE7-D449-A5C6-16E02F6016E5}" type="slidenum">
              <a:rPr lang="fr-FR" sz="1800" smtClean="0"/>
              <a:pPr/>
              <a:t>13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2136018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4ECDE607-7DE7-2E02-C179-79199C35FC7B}"/>
              </a:ext>
            </a:extLst>
          </p:cNvPr>
          <p:cNvGrpSpPr/>
          <p:nvPr/>
        </p:nvGrpSpPr>
        <p:grpSpPr>
          <a:xfrm>
            <a:off x="1485264" y="136524"/>
            <a:ext cx="8880953" cy="6500432"/>
            <a:chOff x="-492065" y="338328"/>
            <a:chExt cx="8291773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F197E1-1817-9A66-E71D-45E409BDB2D8}"/>
                </a:ext>
              </a:extLst>
            </p:cNvPr>
            <p:cNvSpPr/>
            <p:nvPr/>
          </p:nvSpPr>
          <p:spPr>
            <a:xfrm>
              <a:off x="-492065" y="338328"/>
              <a:ext cx="8291773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7A6C9D-F240-33A6-EA76-DC83CA8CF948}"/>
                </a:ext>
              </a:extLst>
            </p:cNvPr>
            <p:cNvSpPr/>
            <p:nvPr/>
          </p:nvSpPr>
          <p:spPr>
            <a:xfrm>
              <a:off x="-492065" y="338328"/>
              <a:ext cx="8291773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6" name="Graphique 15" descr="Appareil photo avec un remplissage uni">
              <a:extLst>
                <a:ext uri="{FF2B5EF4-FFF2-40B4-BE49-F238E27FC236}">
                  <a16:creationId xmlns:a16="http://schemas.microsoft.com/office/drawing/2014/main" id="{231B5903-56DB-D0BF-9C65-1E1B4B8B8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8668" y="338328"/>
              <a:ext cx="591312" cy="591312"/>
            </a:xfrm>
            <a:prstGeom prst="rect">
              <a:avLst/>
            </a:prstGeom>
          </p:spPr>
        </p:pic>
        <p:pic>
          <p:nvPicPr>
            <p:cNvPr id="19" name="Graphique 18" descr="Loupe avec un remplissage uni">
              <a:extLst>
                <a:ext uri="{FF2B5EF4-FFF2-40B4-BE49-F238E27FC236}">
                  <a16:creationId xmlns:a16="http://schemas.microsoft.com/office/drawing/2014/main" id="{8D4B55C0-3B96-AECF-280B-3B40D8B84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3852" y="469180"/>
              <a:ext cx="329607" cy="329607"/>
            </a:xfrm>
            <a:prstGeom prst="rect">
              <a:avLst/>
            </a:prstGeom>
          </p:spPr>
        </p:pic>
        <p:pic>
          <p:nvPicPr>
            <p:cNvPr id="20" name="Graphique 19" descr="Signe pouce en haut avec un remplissage uni">
              <a:extLst>
                <a:ext uri="{FF2B5EF4-FFF2-40B4-BE49-F238E27FC236}">
                  <a16:creationId xmlns:a16="http://schemas.microsoft.com/office/drawing/2014/main" id="{AFD647B0-9D01-D13F-2E88-E91DE0649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21" name="Graphique 20" descr="Commentaire, ajouter avec un remplissage uni">
              <a:extLst>
                <a:ext uri="{FF2B5EF4-FFF2-40B4-BE49-F238E27FC236}">
                  <a16:creationId xmlns:a16="http://schemas.microsoft.com/office/drawing/2014/main" id="{47D53D26-DC8C-059E-CDCB-471846515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AFDF2D42-99D2-4A47-F91D-D7F2ABFCB24F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48E75115-FBF3-5FA4-B5E2-78188D84B17D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1225650-E1AE-04AA-CCF7-E3DE0E7E777E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78494158-C24D-7CB6-19DB-0F6BD541A25E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EB9571FA-7156-C83A-F7BD-DF7092DC1750}"/>
              </a:ext>
            </a:extLst>
          </p:cNvPr>
          <p:cNvSpPr txBox="1"/>
          <p:nvPr/>
        </p:nvSpPr>
        <p:spPr>
          <a:xfrm>
            <a:off x="2364037" y="235581"/>
            <a:ext cx="8135560" cy="47000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II. ENTRE SOCIABILITÉ NUMÉRIQUE ET VIE SOCIALE RÉELLE </a:t>
            </a:r>
            <a:endParaRPr lang="fr-FR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F07839A-2704-45E3-8829-A9269A30E3AD}"/>
              </a:ext>
            </a:extLst>
          </p:cNvPr>
          <p:cNvSpPr txBox="1"/>
          <p:nvPr/>
        </p:nvSpPr>
        <p:spPr>
          <a:xfrm>
            <a:off x="6845829" y="3101805"/>
            <a:ext cx="2552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- Connaissances 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6FD0C18-1105-FEF8-2646-7E798620B8A9}"/>
              </a:ext>
            </a:extLst>
          </p:cNvPr>
          <p:cNvSpPr txBox="1"/>
          <p:nvPr/>
        </p:nvSpPr>
        <p:spPr>
          <a:xfrm>
            <a:off x="2258556" y="3183269"/>
            <a:ext cx="2395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- Famille / amis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7C46BD1-599E-2465-CC9C-CFCE27A36C55}"/>
              </a:ext>
            </a:extLst>
          </p:cNvPr>
          <p:cNvSpPr txBox="1"/>
          <p:nvPr/>
        </p:nvSpPr>
        <p:spPr>
          <a:xfrm>
            <a:off x="6845829" y="4055224"/>
            <a:ext cx="274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- Contacts brefs</a:t>
            </a:r>
          </a:p>
          <a:p>
            <a:endParaRPr lang="fr-FR" sz="2800" dirty="0"/>
          </a:p>
          <a:p>
            <a:r>
              <a:rPr lang="fr-FR" sz="2800" dirty="0"/>
              <a:t>- Occasionnels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6947AB-7727-4D59-BCE5-42B0D9253244}"/>
              </a:ext>
            </a:extLst>
          </p:cNvPr>
          <p:cNvSpPr txBox="1"/>
          <p:nvPr/>
        </p:nvSpPr>
        <p:spPr>
          <a:xfrm>
            <a:off x="2258556" y="4033472"/>
            <a:ext cx="33774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- Relations soutenues</a:t>
            </a:r>
          </a:p>
          <a:p>
            <a:endParaRPr lang="fr-FR" sz="2800" dirty="0"/>
          </a:p>
          <a:p>
            <a:r>
              <a:rPr lang="fr-FR" sz="2800" dirty="0"/>
              <a:t>- Contacts fréquents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621DA6-25F4-6143-F177-071B82A2F450}"/>
              </a:ext>
            </a:extLst>
          </p:cNvPr>
          <p:cNvSpPr txBox="1"/>
          <p:nvPr/>
        </p:nvSpPr>
        <p:spPr>
          <a:xfrm>
            <a:off x="6869921" y="2322977"/>
            <a:ext cx="2528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LIENS FAIBLES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5043D1-67F6-6452-BA73-3DA12B37CD30}"/>
              </a:ext>
            </a:extLst>
          </p:cNvPr>
          <p:cNvSpPr txBox="1"/>
          <p:nvPr/>
        </p:nvSpPr>
        <p:spPr>
          <a:xfrm>
            <a:off x="2477576" y="2333066"/>
            <a:ext cx="2182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LIENS FORTS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B8BA929-B8B4-37CB-E118-71FEBF881632}"/>
              </a:ext>
            </a:extLst>
          </p:cNvPr>
          <p:cNvSpPr txBox="1"/>
          <p:nvPr/>
        </p:nvSpPr>
        <p:spPr>
          <a:xfrm>
            <a:off x="4174752" y="1274446"/>
            <a:ext cx="3501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Mark Granovetter, 1973</a:t>
            </a:r>
          </a:p>
        </p:txBody>
      </p:sp>
      <p:sp>
        <p:nvSpPr>
          <p:cNvPr id="3" name="Espace réservé du numéro de diapositive 1">
            <a:extLst>
              <a:ext uri="{FF2B5EF4-FFF2-40B4-BE49-F238E27FC236}">
                <a16:creationId xmlns:a16="http://schemas.microsoft.com/office/drawing/2014/main" id="{32A71FAC-2895-8E5D-0944-31F98636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14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974864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34D84AC2-8277-F8E0-103B-B8EEE796CF23}"/>
              </a:ext>
            </a:extLst>
          </p:cNvPr>
          <p:cNvGrpSpPr/>
          <p:nvPr/>
        </p:nvGrpSpPr>
        <p:grpSpPr>
          <a:xfrm>
            <a:off x="368710" y="178784"/>
            <a:ext cx="11378580" cy="6500432"/>
            <a:chOff x="-1549365" y="338328"/>
            <a:chExt cx="10739541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B0428A-C51E-E360-AADF-F96F7A414364}"/>
                </a:ext>
              </a:extLst>
            </p:cNvPr>
            <p:cNvSpPr/>
            <p:nvPr/>
          </p:nvSpPr>
          <p:spPr>
            <a:xfrm>
              <a:off x="-1549365" y="338328"/>
              <a:ext cx="10670611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A9B5867-6D4F-D229-F147-BB3CAC1A9015}"/>
                </a:ext>
              </a:extLst>
            </p:cNvPr>
            <p:cNvSpPr/>
            <p:nvPr/>
          </p:nvSpPr>
          <p:spPr>
            <a:xfrm>
              <a:off x="-1549364" y="338328"/>
              <a:ext cx="1067061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" name="Graphique 5" descr="Appareil photo avec un remplissage uni">
              <a:extLst>
                <a:ext uri="{FF2B5EF4-FFF2-40B4-BE49-F238E27FC236}">
                  <a16:creationId xmlns:a16="http://schemas.microsoft.com/office/drawing/2014/main" id="{CB30C0A5-D91A-1B16-DD1A-838EA85A7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499727" y="338328"/>
              <a:ext cx="591312" cy="591312"/>
            </a:xfrm>
            <a:prstGeom prst="rect">
              <a:avLst/>
            </a:prstGeom>
          </p:spPr>
        </p:pic>
        <p:pic>
          <p:nvPicPr>
            <p:cNvPr id="7" name="Graphique 6" descr="Loupe avec un remplissage uni">
              <a:extLst>
                <a:ext uri="{FF2B5EF4-FFF2-40B4-BE49-F238E27FC236}">
                  <a16:creationId xmlns:a16="http://schemas.microsoft.com/office/drawing/2014/main" id="{768446D9-018D-BE02-EA95-E3940A5D7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0410" y="495946"/>
              <a:ext cx="329607" cy="329607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67932D3-735C-4174-58A1-BC46EE8B9FEE}"/>
                </a:ext>
              </a:extLst>
            </p:cNvPr>
            <p:cNvSpPr txBox="1"/>
            <p:nvPr/>
          </p:nvSpPr>
          <p:spPr>
            <a:xfrm>
              <a:off x="91585" y="1397197"/>
              <a:ext cx="7011642" cy="61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Fréquence à laquelle les utilisateurs voient leurs liens forts en fonction de la fréquence à laquelle ils voient leurs liens faibles</a:t>
              </a:r>
              <a:endParaRPr lang="fr-FR" b="0" i="0" u="none" strike="noStrike" dirty="0">
                <a:effectLst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A3BE2EBC-99DA-FD6B-4443-56073B61ED90}"/>
                </a:ext>
              </a:extLst>
            </p:cNvPr>
            <p:cNvSpPr txBox="1"/>
            <p:nvPr/>
          </p:nvSpPr>
          <p:spPr>
            <a:xfrm>
              <a:off x="399484" y="421713"/>
              <a:ext cx="8790692" cy="506744"/>
            </a:xfrm>
            <a:prstGeom prst="rect">
              <a:avLst/>
            </a:prstGeom>
            <a:noFill/>
            <a:effectLst>
              <a:outerShdw dist="50800" sx="1000" sy="1000" algn="ctr" rotWithShape="0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pPr lvl="1">
                <a:lnSpc>
                  <a:spcPct val="107000"/>
                </a:lnSpc>
                <a:spcAft>
                  <a:spcPts val="800"/>
                </a:spcAft>
              </a:pPr>
              <a:r>
                <a:rPr lang="fr-FR" sz="2800" b="1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II. ENTRE SOCIABILITÉ NUMÉRIQUE ET VIE SOCIALE RÉELLE </a:t>
              </a:r>
              <a:endParaRPr lang="fr-FR" sz="28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Graphique 9" descr="Signe pouce en haut avec un remplissage uni">
              <a:extLst>
                <a:ext uri="{FF2B5EF4-FFF2-40B4-BE49-F238E27FC236}">
                  <a16:creationId xmlns:a16="http://schemas.microsoft.com/office/drawing/2014/main" id="{478224B3-B824-6EF8-27CE-F1D5384FA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11" name="Graphique 10" descr="Commentaire, ajouter avec un remplissage uni">
              <a:extLst>
                <a:ext uri="{FF2B5EF4-FFF2-40B4-BE49-F238E27FC236}">
                  <a16:creationId xmlns:a16="http://schemas.microsoft.com/office/drawing/2014/main" id="{4452B40A-C761-95E5-EA19-C24E57475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D4090E8D-AE4A-42C7-DC84-4B90324BE582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6324BABA-1202-5D65-55A5-B181AFDAB625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AE45C9DE-B71C-1658-8A5B-35FD6ACEEFEA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1DD0B0A-9398-6B6F-D8E2-08D2099EDCE0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graphicFrame>
        <p:nvGraphicFramePr>
          <p:cNvPr id="16" name="Tableau 16">
            <a:extLst>
              <a:ext uri="{FF2B5EF4-FFF2-40B4-BE49-F238E27FC236}">
                <a16:creationId xmlns:a16="http://schemas.microsoft.com/office/drawing/2014/main" id="{9D719DB7-9E56-2C73-A4AC-C6647805F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893094"/>
              </p:ext>
            </p:extLst>
          </p:nvPr>
        </p:nvGraphicFramePr>
        <p:xfrm>
          <a:off x="1802391" y="2457022"/>
          <a:ext cx="8079028" cy="2273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757">
                  <a:extLst>
                    <a:ext uri="{9D8B030D-6E8A-4147-A177-3AD203B41FA5}">
                      <a16:colId xmlns:a16="http://schemas.microsoft.com/office/drawing/2014/main" val="2725641423"/>
                    </a:ext>
                  </a:extLst>
                </a:gridCol>
                <a:gridCol w="2019757">
                  <a:extLst>
                    <a:ext uri="{9D8B030D-6E8A-4147-A177-3AD203B41FA5}">
                      <a16:colId xmlns:a16="http://schemas.microsoft.com/office/drawing/2014/main" val="1965583351"/>
                    </a:ext>
                  </a:extLst>
                </a:gridCol>
                <a:gridCol w="2019757">
                  <a:extLst>
                    <a:ext uri="{9D8B030D-6E8A-4147-A177-3AD203B41FA5}">
                      <a16:colId xmlns:a16="http://schemas.microsoft.com/office/drawing/2014/main" val="387622391"/>
                    </a:ext>
                  </a:extLst>
                </a:gridCol>
                <a:gridCol w="2019757">
                  <a:extLst>
                    <a:ext uri="{9D8B030D-6E8A-4147-A177-3AD203B41FA5}">
                      <a16:colId xmlns:a16="http://schemas.microsoft.com/office/drawing/2014/main" val="1017568143"/>
                    </a:ext>
                  </a:extLst>
                </a:gridCol>
              </a:tblGrid>
              <a:tr h="568491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 (Corps)"/>
                        </a:rPr>
                        <a:t> </a:t>
                      </a:r>
                      <a:endParaRPr lang="fr-FR" sz="1600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Calibri (Corps)"/>
                        </a:rPr>
                        <a:t>Fréquemment</a:t>
                      </a:r>
                      <a:endParaRPr lang="fr-FR" sz="1600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 (Corps)"/>
                        </a:rPr>
                        <a:t>Occasionnellement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  <a:latin typeface="+mn-lt"/>
                          <a:ea typeface="Times New Roman" panose="02020603050405020304" pitchFamily="18" charset="0"/>
                          <a:cs typeface="Calibri (Corps)"/>
                        </a:rPr>
                        <a:t>Total général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334251031"/>
                  </a:ext>
                </a:extLst>
              </a:tr>
              <a:tr h="568491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Fréquemment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29%</a:t>
                      </a:r>
                      <a:endParaRPr lang="fr-FR" sz="1600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64%</a:t>
                      </a:r>
                      <a:endParaRPr lang="fr-FR" sz="1600" b="1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60%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2245723640"/>
                  </a:ext>
                </a:extLst>
              </a:tr>
              <a:tr h="568491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Occasionnellement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71%</a:t>
                      </a:r>
                      <a:endParaRPr lang="fr-FR" sz="1600" b="1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36%</a:t>
                      </a:r>
                      <a:endParaRPr lang="fr-FR" sz="1600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40%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1289813558"/>
                  </a:ext>
                </a:extLst>
              </a:tr>
              <a:tr h="568491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Total général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100%</a:t>
                      </a:r>
                      <a:endParaRPr lang="fr-FR" sz="1600" kern="10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100%</a:t>
                      </a:r>
                      <a:endParaRPr lang="fr-FR" sz="1600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 (Corps)"/>
                        </a:rPr>
                        <a:t>100%</a:t>
                      </a:r>
                      <a:endParaRPr lang="fr-FR" sz="1600" kern="100" dirty="0">
                        <a:effectLst/>
                        <a:latin typeface="+mn-lt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622401204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1DDB7047-6062-E62F-1BB5-48B54E774A40}"/>
              </a:ext>
            </a:extLst>
          </p:cNvPr>
          <p:cNvSpPr txBox="1"/>
          <p:nvPr/>
        </p:nvSpPr>
        <p:spPr>
          <a:xfrm rot="16200000">
            <a:off x="792937" y="3374602"/>
            <a:ext cx="164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Connaissances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6C5AC82-2B04-CEA9-BD70-1B3FC6305337}"/>
              </a:ext>
            </a:extLst>
          </p:cNvPr>
          <p:cNvSpPr txBox="1"/>
          <p:nvPr/>
        </p:nvSpPr>
        <p:spPr>
          <a:xfrm>
            <a:off x="4995815" y="2063721"/>
            <a:ext cx="164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Familles/ amis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69C70414-CC26-83CC-1447-2C6919CFFE3B}"/>
                  </a:ext>
                </a:extLst>
              </p:cNvPr>
              <p:cNvSpPr txBox="1"/>
              <p:nvPr/>
            </p:nvSpPr>
            <p:spPr>
              <a:xfrm>
                <a:off x="4846503" y="5131142"/>
                <a:ext cx="2343504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P-value =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1,67∗</m:t>
                    </m:r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−26</m:t>
                        </m:r>
                      </m:sup>
                    </m:sSup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69C70414-CC26-83CC-1447-2C6919CFF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503" y="5131142"/>
                <a:ext cx="2343504" cy="375552"/>
              </a:xfrm>
              <a:prstGeom prst="rect">
                <a:avLst/>
              </a:prstGeom>
              <a:blipFill>
                <a:blip r:embed="rId10"/>
                <a:stretch>
                  <a:fillRect l="-2162" t="-10000" b="-2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79BDA9B-774A-FC56-DD14-4D88E5DF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15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87578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B51A6216-D150-1CEA-EFA9-17229C0292A7}"/>
              </a:ext>
            </a:extLst>
          </p:cNvPr>
          <p:cNvGrpSpPr/>
          <p:nvPr/>
        </p:nvGrpSpPr>
        <p:grpSpPr>
          <a:xfrm>
            <a:off x="1485264" y="136524"/>
            <a:ext cx="8880953" cy="6500432"/>
            <a:chOff x="-492065" y="338328"/>
            <a:chExt cx="8291773" cy="6181344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C81AF7-4799-869F-55AA-8EC9E1F1BD3D}"/>
                </a:ext>
              </a:extLst>
            </p:cNvPr>
            <p:cNvSpPr/>
            <p:nvPr/>
          </p:nvSpPr>
          <p:spPr>
            <a:xfrm>
              <a:off x="-492065" y="338328"/>
              <a:ext cx="8291773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971611-357E-D465-2195-627B85596CFD}"/>
                </a:ext>
              </a:extLst>
            </p:cNvPr>
            <p:cNvSpPr/>
            <p:nvPr/>
          </p:nvSpPr>
          <p:spPr>
            <a:xfrm>
              <a:off x="-492065" y="338328"/>
              <a:ext cx="8291773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7" name="Graphique 6" descr="Appareil photo avec un remplissage uni">
              <a:extLst>
                <a:ext uri="{FF2B5EF4-FFF2-40B4-BE49-F238E27FC236}">
                  <a16:creationId xmlns:a16="http://schemas.microsoft.com/office/drawing/2014/main" id="{CCF949CC-6D60-201B-8C3D-DBFB07655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8668" y="338328"/>
              <a:ext cx="591312" cy="591312"/>
            </a:xfrm>
            <a:prstGeom prst="rect">
              <a:avLst/>
            </a:prstGeom>
          </p:spPr>
        </p:pic>
        <p:pic>
          <p:nvPicPr>
            <p:cNvPr id="8" name="Graphique 7" descr="Loupe avec un remplissage uni">
              <a:extLst>
                <a:ext uri="{FF2B5EF4-FFF2-40B4-BE49-F238E27FC236}">
                  <a16:creationId xmlns:a16="http://schemas.microsoft.com/office/drawing/2014/main" id="{F3822E42-5979-75D4-40FD-5C4BA4390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3852" y="469180"/>
              <a:ext cx="329607" cy="329607"/>
            </a:xfrm>
            <a:prstGeom prst="rect">
              <a:avLst/>
            </a:prstGeom>
          </p:spPr>
        </p:pic>
        <p:pic>
          <p:nvPicPr>
            <p:cNvPr id="9" name="Graphique 8" descr="Signe pouce en haut avec un remplissage uni">
              <a:extLst>
                <a:ext uri="{FF2B5EF4-FFF2-40B4-BE49-F238E27FC236}">
                  <a16:creationId xmlns:a16="http://schemas.microsoft.com/office/drawing/2014/main" id="{C41E898A-10E4-05A7-EAE1-8C2C36F3B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02633" y="5896671"/>
              <a:ext cx="364027" cy="364027"/>
            </a:xfrm>
            <a:prstGeom prst="rect">
              <a:avLst/>
            </a:prstGeom>
          </p:spPr>
        </p:pic>
        <p:pic>
          <p:nvPicPr>
            <p:cNvPr id="10" name="Graphique 9" descr="Commentaire, ajouter avec un remplissage uni">
              <a:extLst>
                <a:ext uri="{FF2B5EF4-FFF2-40B4-BE49-F238E27FC236}">
                  <a16:creationId xmlns:a16="http://schemas.microsoft.com/office/drawing/2014/main" id="{F4764F8D-0A17-D81B-A9BA-BCF1A8756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91963" y="5930259"/>
              <a:ext cx="364026" cy="364027"/>
            </a:xfrm>
            <a:prstGeom prst="rect">
              <a:avLst/>
            </a:prstGeom>
          </p:spPr>
        </p:pic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228518FC-A6CD-CAAF-47E3-B85C57216BB7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588520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7C4B5A3-E39F-C01E-1679-2313BE5F8171}"/>
                </a:ext>
              </a:extLst>
            </p:cNvPr>
            <p:cNvCxnSpPr>
              <a:cxnSpLocks/>
            </p:cNvCxnSpPr>
            <p:nvPr/>
          </p:nvCxnSpPr>
          <p:spPr>
            <a:xfrm>
              <a:off x="1375873" y="6294286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C73DD6EC-5183-EF88-6B38-67C7410A8D6E}"/>
                </a:ext>
              </a:extLst>
            </p:cNvPr>
            <p:cNvSpPr txBox="1"/>
            <p:nvPr/>
          </p:nvSpPr>
          <p:spPr>
            <a:xfrm>
              <a:off x="2547467" y="5938035"/>
              <a:ext cx="437509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Like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9BDB3D0F-2450-D627-A606-BEF4ED16B386}"/>
                </a:ext>
              </a:extLst>
            </p:cNvPr>
            <p:cNvSpPr txBox="1"/>
            <p:nvPr/>
          </p:nvSpPr>
          <p:spPr>
            <a:xfrm>
              <a:off x="4383521" y="5938035"/>
              <a:ext cx="1170772" cy="292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Commentaires</a:t>
              </a:r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65F6E838-D7D6-C734-5034-5D248C90915C}"/>
              </a:ext>
            </a:extLst>
          </p:cNvPr>
          <p:cNvSpPr txBox="1"/>
          <p:nvPr/>
        </p:nvSpPr>
        <p:spPr>
          <a:xfrm>
            <a:off x="2364037" y="235581"/>
            <a:ext cx="8135560" cy="470000"/>
          </a:xfrm>
          <a:prstGeom prst="rect">
            <a:avLst/>
          </a:prstGeom>
          <a:noFill/>
          <a:effectLst>
            <a:outerShdw dist="50800" sx="1000" sy="1000" algn="ctr" rotWithShape="0">
              <a:srgbClr val="000000"/>
            </a:outerShdw>
          </a:effectLst>
        </p:spPr>
        <p:txBody>
          <a:bodyPr wrap="non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II. ENTRE SOCIABILITÉ NUMÉRIQUE ET VIE SOCIALE RÉELLE </a:t>
            </a:r>
            <a:endParaRPr lang="fr-FR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Espace réservé du numéro de diapositive 1">
            <a:extLst>
              <a:ext uri="{FF2B5EF4-FFF2-40B4-BE49-F238E27FC236}">
                <a16:creationId xmlns:a16="http://schemas.microsoft.com/office/drawing/2014/main" id="{965010EE-D62F-B4E2-CEEE-7C80C96F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16</a:t>
            </a:fld>
            <a:endParaRPr lang="fr-FR" sz="18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7B44F5C-30CF-E7C5-F576-F215F356A528}"/>
              </a:ext>
            </a:extLst>
          </p:cNvPr>
          <p:cNvSpPr txBox="1"/>
          <p:nvPr/>
        </p:nvSpPr>
        <p:spPr>
          <a:xfrm>
            <a:off x="2862102" y="1313841"/>
            <a:ext cx="6004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COEFFICIENT DE RELATION DE SPEARMAN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B99871C-04CC-D525-79A4-5345A3637EC4}"/>
              </a:ext>
            </a:extLst>
          </p:cNvPr>
          <p:cNvSpPr txBox="1"/>
          <p:nvPr/>
        </p:nvSpPr>
        <p:spPr>
          <a:xfrm>
            <a:off x="2632066" y="2100774"/>
            <a:ext cx="65405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u="sng" dirty="0"/>
              <a:t>Valeur comprise entre -1 et 1 :</a:t>
            </a:r>
          </a:p>
          <a:p>
            <a:endParaRPr lang="fr-FR" sz="2000" dirty="0"/>
          </a:p>
          <a:p>
            <a:pPr marL="285750" indent="-285750">
              <a:buFontTx/>
              <a:buChar char="-"/>
            </a:pPr>
            <a:r>
              <a:rPr lang="fr-FR" sz="2000" dirty="0"/>
              <a:t>Valeur positive : variation simultanée dans le même sens</a:t>
            </a:r>
          </a:p>
          <a:p>
            <a:pPr marL="285750" indent="-285750">
              <a:buFontTx/>
              <a:buChar char="-"/>
            </a:pPr>
            <a:endParaRPr lang="fr-FR" sz="2000" dirty="0"/>
          </a:p>
          <a:p>
            <a:pPr marL="285750" indent="-285750">
              <a:buFontTx/>
              <a:buChar char="-"/>
            </a:pPr>
            <a:r>
              <a:rPr lang="fr-FR" sz="2000" dirty="0"/>
              <a:t>Egale à 0 : absence de corrélation</a:t>
            </a:r>
          </a:p>
          <a:p>
            <a:pPr marL="285750" indent="-285750">
              <a:buFontTx/>
              <a:buChar char="-"/>
            </a:pPr>
            <a:endParaRPr lang="fr-FR" sz="2000" dirty="0"/>
          </a:p>
          <a:p>
            <a:pPr marL="285750" indent="-285750">
              <a:buFontTx/>
              <a:buChar char="-"/>
            </a:pPr>
            <a:r>
              <a:rPr lang="fr-FR" sz="2000" dirty="0"/>
              <a:t>Valeur négative : variation simultanée en sens inverse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386484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65352782-5102-8908-836C-4BDFD3A36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88143"/>
              </p:ext>
            </p:extLst>
          </p:nvPr>
        </p:nvGraphicFramePr>
        <p:xfrm>
          <a:off x="707924" y="512426"/>
          <a:ext cx="10854814" cy="57388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3301">
                  <a:extLst>
                    <a:ext uri="{9D8B030D-6E8A-4147-A177-3AD203B41FA5}">
                      <a16:colId xmlns:a16="http://schemas.microsoft.com/office/drawing/2014/main" val="2430896485"/>
                    </a:ext>
                  </a:extLst>
                </a:gridCol>
                <a:gridCol w="1542269">
                  <a:extLst>
                    <a:ext uri="{9D8B030D-6E8A-4147-A177-3AD203B41FA5}">
                      <a16:colId xmlns:a16="http://schemas.microsoft.com/office/drawing/2014/main" val="150870542"/>
                    </a:ext>
                  </a:extLst>
                </a:gridCol>
                <a:gridCol w="1542269">
                  <a:extLst>
                    <a:ext uri="{9D8B030D-6E8A-4147-A177-3AD203B41FA5}">
                      <a16:colId xmlns:a16="http://schemas.microsoft.com/office/drawing/2014/main" val="1308790279"/>
                    </a:ext>
                  </a:extLst>
                </a:gridCol>
                <a:gridCol w="1544266">
                  <a:extLst>
                    <a:ext uri="{9D8B030D-6E8A-4147-A177-3AD203B41FA5}">
                      <a16:colId xmlns:a16="http://schemas.microsoft.com/office/drawing/2014/main" val="3227737435"/>
                    </a:ext>
                  </a:extLst>
                </a:gridCol>
                <a:gridCol w="1570237">
                  <a:extLst>
                    <a:ext uri="{9D8B030D-6E8A-4147-A177-3AD203B41FA5}">
                      <a16:colId xmlns:a16="http://schemas.microsoft.com/office/drawing/2014/main" val="1347243325"/>
                    </a:ext>
                  </a:extLst>
                </a:gridCol>
                <a:gridCol w="1570237">
                  <a:extLst>
                    <a:ext uri="{9D8B030D-6E8A-4147-A177-3AD203B41FA5}">
                      <a16:colId xmlns:a16="http://schemas.microsoft.com/office/drawing/2014/main" val="3116630866"/>
                    </a:ext>
                  </a:extLst>
                </a:gridCol>
                <a:gridCol w="1572235">
                  <a:extLst>
                    <a:ext uri="{9D8B030D-6E8A-4147-A177-3AD203B41FA5}">
                      <a16:colId xmlns:a16="http://schemas.microsoft.com/office/drawing/2014/main" val="1010706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 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Liens forts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Liens faibles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590653"/>
                  </a:ext>
                </a:extLst>
              </a:tr>
              <a:tr h="1062839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 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Fréquence rencontre proche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Fréquence activité avec proches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Fréquence sortie culturelle avec proche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Fréquence rencontre connaissance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Fréquence activité avec connaissance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Fréquence sortie culturelle avec connaissance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extLst>
                  <a:ext uri="{0D108BD9-81ED-4DB2-BD59-A6C34878D82A}">
                    <a16:rowId xmlns:a16="http://schemas.microsoft.com/office/drawing/2014/main" val="560471963"/>
                  </a:ext>
                </a:extLst>
              </a:tr>
              <a:tr h="1250446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Fréquence de connexions sur Facebook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0,1586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0,0662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0,1173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0,0011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0,0021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0" dirty="0">
                          <a:effectLst/>
                        </a:rPr>
                        <a:t>- 0,0619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extLst>
                  <a:ext uri="{0D108BD9-81ED-4DB2-BD59-A6C34878D82A}">
                    <a16:rowId xmlns:a16="http://schemas.microsoft.com/office/drawing/2014/main" val="1080626590"/>
                  </a:ext>
                </a:extLst>
              </a:tr>
              <a:tr h="1151785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Temps passé sur Facebook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0,0447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0,0140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0,0473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0" dirty="0">
                          <a:effectLst/>
                        </a:rPr>
                        <a:t>- 0,0009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0" dirty="0">
                          <a:effectLst/>
                        </a:rPr>
                        <a:t>- 0,0069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0" dirty="0">
                          <a:effectLst/>
                        </a:rPr>
                        <a:t>- 0,0329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extLst>
                  <a:ext uri="{0D108BD9-81ED-4DB2-BD59-A6C34878D82A}">
                    <a16:rowId xmlns:a16="http://schemas.microsoft.com/office/drawing/2014/main" val="4204335261"/>
                  </a:ext>
                </a:extLst>
              </a:tr>
              <a:tr h="1054619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Nombre d’ « amis » sur Facebook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0,2284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0,1592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0,2308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0,0498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0,0369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0" dirty="0">
                          <a:effectLst/>
                        </a:rPr>
                        <a:t>- 0,0252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extLst>
                  <a:ext uri="{0D108BD9-81ED-4DB2-BD59-A6C34878D82A}">
                    <a16:rowId xmlns:a16="http://schemas.microsoft.com/office/drawing/2014/main" val="3908455815"/>
                  </a:ext>
                </a:extLst>
              </a:tr>
              <a:tr h="848162"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Nombre de photos/ vidéos publiées sur Facebook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0,1779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0,1239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0,1841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>
                          <a:effectLst/>
                        </a:rPr>
                        <a:t>0,0173</a:t>
                      </a:r>
                      <a:endParaRPr lang="fr-F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kern="0" dirty="0">
                          <a:effectLst/>
                        </a:rPr>
                        <a:t>0,0262</a:t>
                      </a:r>
                      <a:endParaRPr lang="fr-F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600" b="1" kern="0" dirty="0">
                          <a:effectLst/>
                        </a:rPr>
                        <a:t>- 0,0316</a:t>
                      </a:r>
                      <a:endParaRPr lang="fr-FR" sz="16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 (Corps)"/>
                      </a:endParaRPr>
                    </a:p>
                  </a:txBody>
                  <a:tcPr marL="59759" marR="59759" marT="0" marB="0" anchor="ctr"/>
                </a:tc>
                <a:extLst>
                  <a:ext uri="{0D108BD9-81ED-4DB2-BD59-A6C34878D82A}">
                    <a16:rowId xmlns:a16="http://schemas.microsoft.com/office/drawing/2014/main" val="181656652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654727F1-3049-F363-9D5E-ED964B180038}"/>
              </a:ext>
            </a:extLst>
          </p:cNvPr>
          <p:cNvSpPr txBox="1"/>
          <p:nvPr/>
        </p:nvSpPr>
        <p:spPr>
          <a:xfrm>
            <a:off x="4424539" y="124681"/>
            <a:ext cx="4331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Coefficient de corrélation de Spearman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85E92AF-1414-7DA6-D63E-68D8ADDD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17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476699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ED14ACBF-3554-10E5-0C2F-9B626401EADF}"/>
              </a:ext>
            </a:extLst>
          </p:cNvPr>
          <p:cNvGrpSpPr/>
          <p:nvPr/>
        </p:nvGrpSpPr>
        <p:grpSpPr>
          <a:xfrm>
            <a:off x="2526025" y="147629"/>
            <a:ext cx="7139951" cy="6505856"/>
            <a:chOff x="-183687" y="348887"/>
            <a:chExt cx="6682830" cy="6186502"/>
          </a:xfrm>
          <a:effectLst>
            <a:outerShdw blurRad="308920" dist="50800" dir="1680000" algn="ctr" rotWithShape="0">
              <a:srgbClr val="000000">
                <a:alpha val="81688"/>
              </a:srgbClr>
            </a:outerShd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C1CD6F-D5DD-7AB3-1E96-F27B81F8865A}"/>
                </a:ext>
              </a:extLst>
            </p:cNvPr>
            <p:cNvSpPr/>
            <p:nvPr/>
          </p:nvSpPr>
          <p:spPr>
            <a:xfrm>
              <a:off x="-183687" y="354045"/>
              <a:ext cx="6682830" cy="6181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7F2DD2-EE68-6CC1-121A-0B1ED87F23D9}"/>
                </a:ext>
              </a:extLst>
            </p:cNvPr>
            <p:cNvSpPr/>
            <p:nvPr/>
          </p:nvSpPr>
          <p:spPr>
            <a:xfrm>
              <a:off x="-183687" y="353595"/>
              <a:ext cx="6682830" cy="661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" name="Graphique 5" descr="Appareil photo avec un remplissage uni">
              <a:extLst>
                <a:ext uri="{FF2B5EF4-FFF2-40B4-BE49-F238E27FC236}">
                  <a16:creationId xmlns:a16="http://schemas.microsoft.com/office/drawing/2014/main" id="{EEEE676E-D77A-4A19-4939-3AF693438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163" y="348887"/>
              <a:ext cx="591312" cy="591312"/>
            </a:xfrm>
            <a:prstGeom prst="rect">
              <a:avLst/>
            </a:prstGeom>
          </p:spPr>
        </p:pic>
        <p:pic>
          <p:nvPicPr>
            <p:cNvPr id="7" name="Graphique 6" descr="Loupe avec un remplissage uni">
              <a:extLst>
                <a:ext uri="{FF2B5EF4-FFF2-40B4-BE49-F238E27FC236}">
                  <a16:creationId xmlns:a16="http://schemas.microsoft.com/office/drawing/2014/main" id="{E1BE7608-6291-5F4A-974E-B19CD4795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0661" y="501762"/>
              <a:ext cx="329607" cy="329607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5B8E6C89-6E4B-40F9-E94A-9EA62171EA1F}"/>
                </a:ext>
              </a:extLst>
            </p:cNvPr>
            <p:cNvSpPr txBox="1"/>
            <p:nvPr/>
          </p:nvSpPr>
          <p:spPr>
            <a:xfrm>
              <a:off x="937260" y="1321356"/>
              <a:ext cx="172904" cy="351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 dirty="0"/>
            </a:p>
          </p:txBody>
        </p:sp>
        <p:pic>
          <p:nvPicPr>
            <p:cNvPr id="10" name="Graphique 9" descr="Signe pouce en haut avec un remplissage uni">
              <a:extLst>
                <a:ext uri="{FF2B5EF4-FFF2-40B4-BE49-F238E27FC236}">
                  <a16:creationId xmlns:a16="http://schemas.microsoft.com/office/drawing/2014/main" id="{7A64CAFC-898D-BD21-D8D9-9F422A340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35598" y="5647982"/>
              <a:ext cx="464481" cy="464481"/>
            </a:xfrm>
            <a:prstGeom prst="rect">
              <a:avLst/>
            </a:prstGeom>
          </p:spPr>
        </p:pic>
        <p:pic>
          <p:nvPicPr>
            <p:cNvPr id="11" name="Graphique 10" descr="Commentaire, ajouter avec un remplissage uni">
              <a:extLst>
                <a:ext uri="{FF2B5EF4-FFF2-40B4-BE49-F238E27FC236}">
                  <a16:creationId xmlns:a16="http://schemas.microsoft.com/office/drawing/2014/main" id="{1ADF99F6-FB35-A4D0-3BE6-3423EE426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64102" y="5727328"/>
              <a:ext cx="464481" cy="464481"/>
            </a:xfrm>
            <a:prstGeom prst="rect">
              <a:avLst/>
            </a:prstGeom>
          </p:spPr>
        </p:pic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CA77FDA-99B7-7879-9481-460305AEBC41}"/>
                </a:ext>
              </a:extLst>
            </p:cNvPr>
            <p:cNvCxnSpPr>
              <a:cxnSpLocks/>
            </p:cNvCxnSpPr>
            <p:nvPr/>
          </p:nvCxnSpPr>
          <p:spPr>
            <a:xfrm>
              <a:off x="937260" y="5530753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D8EAC21C-5A01-2A99-AAC7-0226EFEC5945}"/>
                </a:ext>
              </a:extLst>
            </p:cNvPr>
            <p:cNvCxnSpPr>
              <a:cxnSpLocks/>
            </p:cNvCxnSpPr>
            <p:nvPr/>
          </p:nvCxnSpPr>
          <p:spPr>
            <a:xfrm>
              <a:off x="937260" y="6229692"/>
              <a:ext cx="444093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5DE22033-AF98-6473-C04E-9ED6EC77D57B}"/>
                </a:ext>
              </a:extLst>
            </p:cNvPr>
            <p:cNvSpPr txBox="1"/>
            <p:nvPr/>
          </p:nvSpPr>
          <p:spPr>
            <a:xfrm>
              <a:off x="2002092" y="5749089"/>
              <a:ext cx="547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Like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6F2B614B-2DDC-A441-12D7-7E868990E389}"/>
                </a:ext>
              </a:extLst>
            </p:cNvPr>
            <p:cNvSpPr txBox="1"/>
            <p:nvPr/>
          </p:nvSpPr>
          <p:spPr>
            <a:xfrm>
              <a:off x="3773744" y="5749089"/>
              <a:ext cx="1553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Commentaires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783A20CB-71C8-FF9B-0229-6FFCF327BDFB}"/>
                </a:ext>
              </a:extLst>
            </p:cNvPr>
            <p:cNvSpPr txBox="1"/>
            <p:nvPr/>
          </p:nvSpPr>
          <p:spPr>
            <a:xfrm>
              <a:off x="937260" y="452072"/>
              <a:ext cx="2459234" cy="506744"/>
            </a:xfrm>
            <a:prstGeom prst="rect">
              <a:avLst/>
            </a:prstGeom>
            <a:noFill/>
            <a:effectLst>
              <a:outerShdw dist="50800" sx="1000" sy="1000" algn="ctr" rotWithShape="0">
                <a:srgbClr val="000000"/>
              </a:outerShdw>
            </a:effectLst>
          </p:spPr>
          <p:txBody>
            <a:bodyPr wrap="none" rtlCol="0">
              <a:spAutoFit/>
            </a:bodyPr>
            <a:lstStyle/>
            <a:p>
              <a:pPr lvl="1">
                <a:lnSpc>
                  <a:spcPct val="107000"/>
                </a:lnSpc>
                <a:spcAft>
                  <a:spcPts val="800"/>
                </a:spcAft>
              </a:pPr>
              <a:r>
                <a:rPr lang="fr-FR" sz="2800" b="1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CONCLUSION</a:t>
              </a:r>
              <a:endParaRPr lang="fr-FR" sz="1800" b="1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6190252-0DE8-162E-7BF6-C47FC0B03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18</a:t>
            </a:fld>
            <a:endParaRPr lang="fr-FR" sz="18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DB34BA7-E700-6413-6C82-909D7479F6B5}"/>
              </a:ext>
            </a:extLst>
          </p:cNvPr>
          <p:cNvSpPr txBox="1"/>
          <p:nvPr/>
        </p:nvSpPr>
        <p:spPr>
          <a:xfrm>
            <a:off x="3589572" y="1611346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Police système Courant"/>
              <a:buChar char="-"/>
            </a:pPr>
            <a:r>
              <a:rPr lang="fr-FR" sz="2000" dirty="0"/>
              <a:t>Illusion de proximité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2311B0F-A277-3C12-91C6-2D7548503A04}"/>
              </a:ext>
            </a:extLst>
          </p:cNvPr>
          <p:cNvSpPr txBox="1"/>
          <p:nvPr/>
        </p:nvSpPr>
        <p:spPr>
          <a:xfrm>
            <a:off x="3589572" y="2544691"/>
            <a:ext cx="4379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Police système Courant"/>
              <a:buChar char="-"/>
            </a:pPr>
            <a:r>
              <a:rPr lang="fr-FR" sz="2000" dirty="0"/>
              <a:t>Opinion négative des personnes âgées sur Facebook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746982F-1B06-9559-7DD0-7164F6A5E4FA}"/>
              </a:ext>
            </a:extLst>
          </p:cNvPr>
          <p:cNvSpPr txBox="1"/>
          <p:nvPr/>
        </p:nvSpPr>
        <p:spPr>
          <a:xfrm>
            <a:off x="3589572" y="3785812"/>
            <a:ext cx="50483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000" dirty="0"/>
              <a:t>Mauvaise compréhension de leur part de ce que la plateforme leur apporte</a:t>
            </a:r>
          </a:p>
        </p:txBody>
      </p:sp>
    </p:spTree>
    <p:extLst>
      <p:ext uri="{BB962C8B-B14F-4D97-AF65-F5344CB8AC3E}">
        <p14:creationId xmlns:p14="http://schemas.microsoft.com/office/powerpoint/2010/main" val="2068310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5957F9-D3DA-A7DE-E3B2-CEBB128588B9}"/>
              </a:ext>
            </a:extLst>
          </p:cNvPr>
          <p:cNvSpPr/>
          <p:nvPr/>
        </p:nvSpPr>
        <p:spPr>
          <a:xfrm>
            <a:off x="3356975" y="2342367"/>
            <a:ext cx="5098093" cy="1578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A43A8A-C6DA-2751-A937-8CFEC93A3F99}"/>
              </a:ext>
            </a:extLst>
          </p:cNvPr>
          <p:cNvSpPr txBox="1"/>
          <p:nvPr/>
        </p:nvSpPr>
        <p:spPr>
          <a:xfrm>
            <a:off x="3331923" y="2354893"/>
            <a:ext cx="50980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bg1"/>
                </a:solidFill>
              </a:rPr>
              <a:t>MERCI DE VOTRE ATTENTION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A0DE9A0-947D-E2A1-F709-D05EB20CF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696" y="6454394"/>
            <a:ext cx="2743200" cy="365125"/>
          </a:xfrm>
        </p:spPr>
        <p:txBody>
          <a:bodyPr/>
          <a:lstStyle/>
          <a:p>
            <a:fld id="{C5A65A16-1EE7-D449-A5C6-16E02F6016E5}" type="slidenum">
              <a:rPr lang="fr-FR" sz="1800" smtClean="0"/>
              <a:t>19</a:t>
            </a:fld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777455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13434</TotalTime>
  <Words>782</Words>
  <Application>Microsoft Macintosh PowerPoint</Application>
  <PresentationFormat>Grand écran</PresentationFormat>
  <Paragraphs>267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Police système Courant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 Bougeard</dc:creator>
  <cp:lastModifiedBy>Emma Bougeard</cp:lastModifiedBy>
  <cp:revision>74</cp:revision>
  <dcterms:created xsi:type="dcterms:W3CDTF">2023-04-09T13:59:07Z</dcterms:created>
  <dcterms:modified xsi:type="dcterms:W3CDTF">2024-03-06T16:26:41Z</dcterms:modified>
</cp:coreProperties>
</file>